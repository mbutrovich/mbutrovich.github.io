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1.xml" ContentType="application/vnd.openxmlformats-officedocument.drawingml.chart+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media/image1.jpeg" ContentType="image/jpeg"/>
  <Override PartName="/ppt/notesSlides/notesSlide22.xml" ContentType="application/vnd.openxmlformats-officedocument.presentationml.notesSlide+xml"/>
  <Override PartName="/ppt/notesSlides/notesSlide23.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1pPr>
    <a:lvl2pPr marL="0" marR="0" indent="457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2pPr>
    <a:lvl3pPr marL="0" marR="0" indent="914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3pPr>
    <a:lvl4pPr marL="0" marR="0" indent="1371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4pPr>
    <a:lvl5pPr marL="0" marR="0" indent="18288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5pPr>
    <a:lvl6pPr marL="0" marR="0" indent="22860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6pPr>
    <a:lvl7pPr marL="0" marR="0" indent="27432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7pPr>
    <a:lvl8pPr marL="0" marR="0" indent="32004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8pPr>
    <a:lvl9pPr marL="0" marR="0" indent="365760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FFFFFF"/>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firstRow>
  </a:tblStyle>
  <a:tblStyle styleId="{C7B018BB-80A7-4F77-B60F-C8B233D01FF8}"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b="def" i="def"/>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25400" cap="flat">
              <a:solidFill>
                <a:srgbClr val="FFFFFF"/>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firstCol>
    <a:lastRow>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1">
                  <a:lumOff val="13543"/>
                </a:schemeClr>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solidFill>
            <a:srgbClr val="014D80"/>
          </a:solidFill>
        </a:fill>
      </a:tcStyle>
    </a:firstRow>
  </a:tblStyle>
  <a:tblStyle styleId="{EEE7283C-3CF3-47DC-8721-378D4A62B228}"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3790"/>
            </a:srgbClr>
          </a:solidFill>
        </a:fill>
      </a:tcStyle>
    </a:band2H>
    <a:firstCol>
      <a:tcTxStyle b="off" i="off">
        <a:font>
          <a:latin typeface="Helvetica Neue Medium"/>
          <a:ea typeface="Helvetica Neue Medium"/>
          <a:cs typeface="Helvetica Neue Medium"/>
        </a:font>
        <a:srgbClr val="FFFFFF"/>
      </a:tcTxStyle>
      <a:tcStyle>
        <a:tcBdr>
          <a:left>
            <a:ln w="12700" cap="flat">
              <a:solidFill>
                <a:srgbClr val="A9A9A9"/>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09D00"/>
          </a:solidFill>
        </a:fill>
      </a:tcStyle>
    </a:firstCol>
    <a:lastRow>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61D836"/>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ff" i="off">
        <a:font>
          <a:latin typeface="Helvetica Neue Medium"/>
          <a:ea typeface="Helvetica Neue Medium"/>
          <a:cs typeface="Helvetica Neue Medium"/>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027002"/>
          </a:solidFill>
        </a:fill>
      </a:tcStyle>
    </a:firstRow>
  </a:tblStyle>
  <a:tblStyle styleId="{CF821DB8-F4EB-4A41-A1BA-3FCAFE7338EE}" styleName="">
    <a:tblBg/>
    <a:wholeTbl>
      <a:tcTxStyle b="off"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12700" cap="flat">
              <a:solidFill>
                <a:srgbClr val="A9A9A9"/>
              </a:solidFill>
              <a:prstDash val="solid"/>
              <a:miter lim="400000"/>
            </a:ln>
          </a:top>
          <a:bottom>
            <a:ln w="12700" cap="flat">
              <a:solidFill>
                <a:srgbClr val="A9A9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wholeTbl>
    <a:band2H>
      <a:tcTxStyle b="def" i="def"/>
      <a:tcStyle>
        <a:tcBdr/>
        <a:fill>
          <a:solidFill>
            <a:srgbClr val="747676">
              <a:alpha val="63790"/>
            </a:srgbClr>
          </a:solidFill>
        </a:fill>
      </a:tcStyle>
    </a:band2H>
    <a:firstCol>
      <a:tcTxStyle b="off" i="off">
        <a:font>
          <a:latin typeface="Helvetica Neue Medium"/>
          <a:ea typeface="Helvetica Neue Medium"/>
          <a:cs typeface="Helvetica Neue Medium"/>
        </a:font>
        <a:srgbClr val="000000"/>
      </a:tcTxStyle>
      <a:tcStyle>
        <a:tcBdr>
          <a:left>
            <a:ln w="12700" cap="flat">
              <a:solidFill>
                <a:srgbClr val="E3E5E8"/>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chemeClr val="accent4">
              <a:hueOff val="-613784"/>
              <a:lumOff val="1275"/>
            </a:schemeClr>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4">
                  <a:hueOff val="-613784"/>
                  <a:lumOff val="1275"/>
                </a:schemeClr>
              </a:solidFill>
              <a:prstDash val="solid"/>
              <a:miter lim="400000"/>
            </a:ln>
          </a:top>
          <a:bottom>
            <a:ln w="12700" cap="flat">
              <a:solidFill>
                <a:srgbClr val="E3E5E8"/>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ff" i="off">
        <a:font>
          <a:latin typeface="Helvetica Neue Medium"/>
          <a:ea typeface="Helvetica Neue Medium"/>
          <a:cs typeface="Helvetica Neue Medium"/>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E3E5E8"/>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FF5300"/>
          </a:solidFill>
        </a:fill>
      </a:tcStyle>
    </a:firstRow>
  </a:tblStyle>
  <a:tblStyle styleId="{33BA23B1-9221-436E-865A-0063620EA4FD}" styleName="">
    <a:tblBg/>
    <a:wholeTbl>
      <a:tcTxStyle b="off"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noFill/>
        </a:fill>
      </a:tcStyle>
    </a:wholeTbl>
    <a:band2H>
      <a:tcTxStyle b="def" i="def"/>
      <a:tcStyle>
        <a:tcBdr/>
        <a:fill>
          <a:solidFill>
            <a:srgbClr val="747676">
              <a:alpha val="63790"/>
            </a:srgbClr>
          </a:solidFill>
        </a:fill>
      </a:tcStyle>
    </a:band2H>
    <a:firstCol>
      <a:tcTxStyle b="on" i="off">
        <a:fontRef idx="minor">
          <a:srgbClr val="FFFFFF"/>
        </a:fontRef>
        <a:srgbClr val="FFFFFF"/>
      </a:tcTxStyle>
      <a:tcStyle>
        <a:tcBdr>
          <a:left>
            <a:ln w="12700" cap="flat">
              <a:solidFill>
                <a:srgbClr val="A6AAA9"/>
              </a:solidFill>
              <a:prstDash val="solid"/>
              <a:miter lim="400000"/>
            </a:ln>
          </a:left>
          <a:right>
            <a:ln w="12700" cap="flat">
              <a:solidFill>
                <a:srgbClr val="C0C0C0"/>
              </a:solidFill>
              <a:prstDash val="solid"/>
              <a:miter lim="400000"/>
            </a:ln>
          </a:right>
          <a:top>
            <a:ln w="12700" cap="flat">
              <a:solidFill>
                <a:srgbClr val="C0C0C0"/>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98195F"/>
          </a:solidFill>
        </a:fill>
      </a:tcStyle>
    </a:firstCol>
    <a:lastRow>
      <a:tcTxStyle b="on" i="off">
        <a:fontRef idx="minor">
          <a:srgbClr val="FFFFFF"/>
        </a:fontRef>
        <a:srgbClr val="FFFFFF"/>
      </a:tcTxStyle>
      <a:tcStyle>
        <a:tcBdr>
          <a:left>
            <a:ln w="12700" cap="flat">
              <a:solidFill>
                <a:srgbClr val="A9A9A9"/>
              </a:solidFill>
              <a:prstDash val="solid"/>
              <a:miter lim="400000"/>
            </a:ln>
          </a:left>
          <a:right>
            <a:ln w="12700" cap="flat">
              <a:solidFill>
                <a:srgbClr val="A9A9A9"/>
              </a:solidFill>
              <a:prstDash val="solid"/>
              <a:miter lim="400000"/>
            </a:ln>
          </a:right>
          <a:top>
            <a:ln w="38100" cap="flat">
              <a:solidFill>
                <a:schemeClr val="accent6"/>
              </a:solidFill>
              <a:prstDash val="solid"/>
              <a:miter lim="400000"/>
            </a:ln>
          </a:top>
          <a:bottom>
            <a:ln w="12700" cap="flat">
              <a:solidFill>
                <a:srgbClr val="A6AAA9"/>
              </a:solidFill>
              <a:prstDash val="solid"/>
              <a:miter lim="400000"/>
            </a:ln>
          </a:bottom>
          <a:insideH>
            <a:ln w="12700" cap="flat">
              <a:solidFill>
                <a:srgbClr val="A9A9A9"/>
              </a:solidFill>
              <a:prstDash val="solid"/>
              <a:miter lim="400000"/>
            </a:ln>
          </a:insideH>
          <a:insideV>
            <a:ln w="12700" cap="flat">
              <a:solidFill>
                <a:srgbClr val="A9A9A9"/>
              </a:solidFill>
              <a:prstDash val="solid"/>
              <a:miter lim="400000"/>
            </a:ln>
          </a:insideV>
        </a:tcBdr>
        <a:fill>
          <a:noFill/>
        </a:fill>
      </a:tcStyle>
    </a:lastRow>
    <a:firstRow>
      <a:tcTxStyle b="on" i="off">
        <a:fontRef idx="minor">
          <a:srgbClr val="FFFFFF"/>
        </a:fontRef>
        <a:srgbClr val="FFFFFF"/>
      </a:tcTxStyle>
      <a:tcStyle>
        <a:tcBdr>
          <a:left>
            <a:ln w="12700" cap="flat">
              <a:solidFill>
                <a:srgbClr val="C0C0C0"/>
              </a:solidFill>
              <a:prstDash val="solid"/>
              <a:miter lim="400000"/>
            </a:ln>
          </a:left>
          <a:right>
            <a:ln w="12700" cap="flat">
              <a:solidFill>
                <a:srgbClr val="C0C0C0"/>
              </a:solidFill>
              <a:prstDash val="solid"/>
              <a:miter lim="400000"/>
            </a:ln>
          </a:right>
          <a:top>
            <a:ln w="12700" cap="flat">
              <a:solidFill>
                <a:srgbClr val="A6AAA9"/>
              </a:solidFill>
              <a:prstDash val="solid"/>
              <a:miter lim="400000"/>
            </a:ln>
          </a:top>
          <a:bottom>
            <a:ln w="12700" cap="flat">
              <a:solidFill>
                <a:srgbClr val="C0C0C0"/>
              </a:solidFill>
              <a:prstDash val="solid"/>
              <a:miter lim="400000"/>
            </a:ln>
          </a:bottom>
          <a:insideH>
            <a:ln w="12700" cap="flat">
              <a:solidFill>
                <a:srgbClr val="C0C0C0"/>
              </a:solidFill>
              <a:prstDash val="solid"/>
              <a:miter lim="400000"/>
            </a:ln>
          </a:insideH>
          <a:insideV>
            <a:ln w="12700" cap="flat">
              <a:solidFill>
                <a:srgbClr val="C0C0C0"/>
              </a:solidFill>
              <a:prstDash val="solid"/>
              <a:miter lim="400000"/>
            </a:ln>
          </a:insideV>
        </a:tcBdr>
        <a:fill>
          <a:solidFill>
            <a:srgbClr val="650E48"/>
          </a:solidFill>
        </a:fill>
      </a:tcStyle>
    </a:firstRow>
  </a:tblStyle>
  <a:tblStyle styleId="{2708684C-4D16-4618-839F-0558EEFCDFE6}" styleName="">
    <a:tblBg/>
    <a:wholeTbl>
      <a:tcTxStyle b="off"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wholeTbl>
    <a:band2H>
      <a:tcTxStyle b="def" i="def"/>
      <a:tcStyle>
        <a:tcBdr/>
        <a:fill>
          <a:solidFill>
            <a:srgbClr val="747676">
              <a:alpha val="64000"/>
            </a:srgbClr>
          </a:solidFill>
        </a:fill>
      </a:tcStyle>
    </a:band2H>
    <a:firstCol>
      <a:tcTxStyle b="on" i="off">
        <a:fontRef idx="minor">
          <a:srgbClr val="FFFFFF"/>
        </a:fontRef>
        <a:srgbClr val="FFFFFF"/>
      </a:tcTxStyle>
      <a:tcStyle>
        <a:tcBdr>
          <a:left>
            <a:ln w="12700" cap="flat">
              <a:solidFill>
                <a:srgbClr val="A9A9A9"/>
              </a:solidFill>
              <a:prstDash val="solid"/>
              <a:miter lim="400000"/>
            </a:ln>
          </a:left>
          <a:right>
            <a:ln w="381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262727"/>
          </a:solidFill>
        </a:fill>
      </a:tcStyle>
    </a:firstCol>
    <a:la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38100" cap="flat">
              <a:solidFill>
                <a:srgbClr val="FFFFFF"/>
              </a:solidFill>
              <a:prstDash val="solid"/>
              <a:miter lim="400000"/>
            </a:ln>
          </a:top>
          <a:bottom>
            <a:ln w="12700" cap="flat">
              <a:solidFill>
                <a:srgbClr val="A9A9A9"/>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noFill/>
        </a:fill>
      </a:tcStyle>
    </a:lastRow>
    <a:firstRow>
      <a:tcTxStyle b="on" i="off">
        <a:fontRef idx="minor">
          <a:srgbClr val="FFFFFF"/>
        </a:fontRef>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A9A9A9"/>
              </a:solidFill>
              <a:prstDash val="solid"/>
              <a:miter lim="400000"/>
            </a:ln>
          </a:top>
          <a:bottom>
            <a:ln w="381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42424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charts/_rels/chart1.xml.rels><?xml version="1.0" encoding="UTF-8"?>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1"/>
  <c:roundedCorners val="0"/>
  <c:chart>
    <c:autoTitleDeleted val="1"/>
    <c:plotArea>
      <c:layout>
        <c:manualLayout>
          <c:layoutTarget val="inner"/>
          <c:xMode val="edge"/>
          <c:yMode val="edge"/>
          <c:x val="0.106471"/>
          <c:y val="0.0654641"/>
          <c:w val="0.888529"/>
          <c:h val="0.752037"/>
        </c:manualLayout>
      </c:layout>
      <c:barChart>
        <c:barDir val="col"/>
        <c:grouping val="clustered"/>
        <c:varyColors val="0"/>
        <c:ser>
          <c:idx val="0"/>
          <c:order val="0"/>
          <c:tx>
            <c:v/>
          </c:tx>
          <c:spPr>
            <a:solidFill>
              <a:schemeClr val="accent1"/>
            </a:solidFill>
            <a:ln w="12700" cap="flat">
              <a:noFill/>
              <a:miter lim="400000"/>
            </a:ln>
            <a:effectLst/>
          </c:spPr>
          <c:invertIfNegative val="0"/>
          <c:dPt>
            <c:idx val="0"/>
            <c:spPr>
              <a:solidFill>
                <a:schemeClr val="accent1"/>
              </a:solidFill>
              <a:ln w="12700" cap="flat">
                <a:noFill/>
                <a:miter lim="400000"/>
              </a:ln>
              <a:effectLst/>
            </c:spPr>
          </c:dPt>
          <c:dPt>
            <c:idx val="1"/>
            <c:spPr>
              <a:solidFill>
                <a:schemeClr val="accent3"/>
              </a:solidFill>
              <a:ln w="12700" cap="flat">
                <a:noFill/>
                <a:miter lim="400000"/>
              </a:ln>
              <a:effectLst/>
            </c:spPr>
          </c:dPt>
          <c:dLbls>
            <c:dLbl>
              <c:idx val="0"/>
              <c:numFmt formatCode="#,##0" sourceLinked="0"/>
              <c:txPr>
                <a:bodyPr/>
                <a:lstStyle/>
                <a:p>
                  <a:pPr>
                    <a:defRPr b="0" i="0" strike="noStrike" sz="5000" u="none">
                      <a:solidFill>
                        <a:srgbClr val="FFFFFF"/>
                      </a:solidFill>
                      <a:latin typeface="Helvetica Neue"/>
                    </a:defRPr>
                  </a:pPr>
                </a:p>
              </c:txPr>
              <c:dLblPos val="inEnd"/>
              <c:showLegendKey val="0"/>
              <c:showVal val="1"/>
              <c:showCatName val="0"/>
              <c:showSerName val="0"/>
              <c:showPercent val="0"/>
              <c:showBubbleSize val="0"/>
            </c:dLbl>
            <c:dLbl>
              <c:idx val="1"/>
              <c:numFmt formatCode="#,##0" sourceLinked="0"/>
              <c:txPr>
                <a:bodyPr/>
                <a:lstStyle/>
                <a:p>
                  <a:pPr>
                    <a:defRPr b="0" i="0" strike="noStrike" sz="5000" u="none">
                      <a:solidFill>
                        <a:srgbClr val="FFFFFF"/>
                      </a:solidFill>
                      <a:latin typeface="Helvetica Neue"/>
                    </a:defRPr>
                  </a:pPr>
                </a:p>
              </c:txPr>
              <c:dLblPos val="inEnd"/>
              <c:showLegendKey val="0"/>
              <c:showVal val="1"/>
              <c:showCatName val="0"/>
              <c:showSerName val="0"/>
              <c:showPercent val="0"/>
              <c:showBubbleSize val="0"/>
            </c:dLbl>
            <c:numFmt formatCode="#,##0" sourceLinked="0"/>
            <c:txPr>
              <a:bodyPr/>
              <a:lstStyle/>
              <a:p>
                <a:pPr>
                  <a:defRPr b="0" i="0" strike="noStrike" sz="5000" u="none">
                    <a:solidFill>
                      <a:srgbClr val="FFFFFF"/>
                    </a:solidFill>
                    <a:latin typeface="Helvetica Neue"/>
                  </a:defRPr>
                </a:pPr>
              </a:p>
            </c:txPr>
            <c:dLblPos val="inEnd"/>
            <c:showLegendKey val="0"/>
            <c:showVal val="1"/>
            <c:showCatName val="0"/>
            <c:showSerName val="0"/>
            <c:showPercent val="0"/>
            <c:showBubbleSize val="0"/>
            <c:showLeaderLines val="0"/>
          </c:dLbls>
          <c:cat>
            <c:strLit>
              <c:ptCount val="2"/>
              <c:pt idx="0">
                <c:v>Spark 3.4.3</c:v>
              </c:pt>
              <c:pt idx="1">
                <c:v>Comet 0.5.0</c:v>
              </c:pt>
            </c:strLit>
          </c:cat>
          <c:val>
            <c:numLit>
              <c:ptCount val="2"/>
              <c:pt idx="0">
                <c:v>640.000000</c:v>
              </c:pt>
              <c:pt idx="1">
                <c:v>331.000000</c:v>
              </c:pt>
            </c:numLit>
          </c:val>
        </c:ser>
        <c:gapWidth val="10"/>
        <c:overlap val="-40"/>
        <c:axId val="2094734552"/>
        <c:axId val="2094734553"/>
      </c:barChart>
      <c:catAx>
        <c:axId val="2094734552"/>
        <c:scaling>
          <c:orientation val="minMax"/>
        </c:scaling>
        <c:delete val="0"/>
        <c:axPos val="b"/>
        <c:numFmt formatCode="General" sourceLinked="0"/>
        <c:majorTickMark val="none"/>
        <c:minorTickMark val="none"/>
        <c:tickLblPos val="low"/>
        <c:spPr>
          <a:ln w="12700" cap="flat">
            <a:solidFill>
              <a:srgbClr val="FFFFFF"/>
            </a:solidFill>
            <a:prstDash val="solid"/>
            <a:miter lim="400000"/>
          </a:ln>
        </c:spPr>
        <c:txPr>
          <a:bodyPr rot="0"/>
          <a:lstStyle/>
          <a:p>
            <a:pPr>
              <a:defRPr b="0" i="0" strike="noStrike" sz="3400" u="none">
                <a:solidFill>
                  <a:srgbClr val="FFFFFF"/>
                </a:solidFill>
                <a:latin typeface="Helvetica Neue"/>
              </a:defRPr>
            </a:pPr>
          </a:p>
        </c:txPr>
        <c:crossAx val="2094734553"/>
        <c:crosses val="autoZero"/>
        <c:auto val="1"/>
        <c:lblAlgn val="ctr"/>
        <c:noMultiLvlLbl val="1"/>
      </c:catAx>
      <c:valAx>
        <c:axId val="2094734553"/>
        <c:scaling>
          <c:orientation val="minMax"/>
        </c:scaling>
        <c:delete val="0"/>
        <c:axPos val="l"/>
        <c:majorGridlines>
          <c:spPr>
            <a:ln w="12700" cap="flat">
              <a:solidFill>
                <a:srgbClr val="FFFFFF"/>
              </a:solidFill>
              <a:prstDash val="solid"/>
              <a:miter lim="400000"/>
            </a:ln>
          </c:spPr>
        </c:majorGridlines>
        <c:title>
          <c:tx>
            <c:rich>
              <a:bodyPr rot="-5400000"/>
              <a:lstStyle/>
              <a:p>
                <a:pPr>
                  <a:defRPr b="0" i="0" strike="noStrike" sz="3400" u="none">
                    <a:solidFill>
                      <a:srgbClr val="FFFFFF"/>
                    </a:solidFill>
                    <a:latin typeface="Helvetica Neue"/>
                  </a:defRPr>
                </a:pPr>
                <a:r>
                  <a:rPr b="0" i="0" strike="noStrike" sz="3400" u="none">
                    <a:solidFill>
                      <a:srgbClr val="FFFFFF"/>
                    </a:solidFill>
                    <a:latin typeface="Helvetica Neue"/>
                  </a:rPr>
                  <a:t>Elapsed time (s)</a:t>
                </a:r>
              </a:p>
            </c:rich>
          </c:tx>
          <c:layout/>
          <c:overlay val="1"/>
        </c:title>
        <c:numFmt formatCode="General" sourceLinked="0"/>
        <c:majorTickMark val="none"/>
        <c:minorTickMark val="none"/>
        <c:tickLblPos val="nextTo"/>
        <c:spPr>
          <a:ln w="12700" cap="flat">
            <a:noFill/>
            <a:prstDash val="solid"/>
            <a:miter lim="400000"/>
          </a:ln>
        </c:spPr>
        <c:txPr>
          <a:bodyPr rot="0"/>
          <a:lstStyle/>
          <a:p>
            <a:pPr>
              <a:defRPr b="0" i="0" strike="noStrike" sz="3400" u="none">
                <a:solidFill>
                  <a:srgbClr val="FFFFFF"/>
                </a:solidFill>
                <a:latin typeface="Helvetica Neue"/>
              </a:defRPr>
            </a:pPr>
          </a:p>
        </c:txPr>
        <c:crossAx val="2094734552"/>
        <c:crosses val="autoZero"/>
        <c:crossBetween val="between"/>
        <c:majorUnit val="175"/>
        <c:minorUnit val="87.5"/>
      </c:valAx>
      <c:spPr>
        <a:noFill/>
        <a:ln w="12700" cap="flat">
          <a:noFill/>
          <a:miter lim="400000"/>
        </a:ln>
        <a:effectLst/>
      </c:spPr>
    </c:plotArea>
    <c:plotVisOnly val="1"/>
    <c:dispBlanksAs val="gap"/>
  </c:chart>
  <c:spPr>
    <a:noFill/>
    <a:ln>
      <a:noFill/>
    </a:ln>
    <a:effectLst/>
  </c:spPr>
  <c:externalData r:id="rId1">
    <c:autoUpdate val="0"/>
  </c:externalData>
</c:chartSpace>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68" name="Shape 168"/>
          <p:cNvSpPr/>
          <p:nvPr>
            <p:ph type="sldImg"/>
          </p:nvPr>
        </p:nvSpPr>
        <p:spPr>
          <a:xfrm>
            <a:off x="1143000" y="685800"/>
            <a:ext cx="4572000" cy="3429000"/>
          </a:xfrm>
          <a:prstGeom prst="rect">
            <a:avLst/>
          </a:prstGeom>
        </p:spPr>
        <p:txBody>
          <a:bodyPr/>
          <a:lstStyle/>
          <a:p>
            <a:pPr/>
          </a:p>
        </p:txBody>
      </p:sp>
      <p:sp>
        <p:nvSpPr>
          <p:cNvPr id="169" name="Shape 169"/>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defTabSz="457200" latinLnBrk="0">
      <a:lnSpc>
        <a:spcPct val="117999"/>
      </a:lnSpc>
      <a:defRPr sz="2200">
        <a:latin typeface="+mn-lt"/>
        <a:ea typeface="+mn-ea"/>
        <a:cs typeface="+mn-cs"/>
        <a:sym typeface="Helvetica Neue"/>
      </a:defRPr>
    </a:lvl1pPr>
    <a:lvl2pPr indent="228600" defTabSz="457200" latinLnBrk="0">
      <a:lnSpc>
        <a:spcPct val="117999"/>
      </a:lnSpc>
      <a:defRPr sz="2200">
        <a:latin typeface="+mn-lt"/>
        <a:ea typeface="+mn-ea"/>
        <a:cs typeface="+mn-cs"/>
        <a:sym typeface="Helvetica Neue"/>
      </a:defRPr>
    </a:lvl2pPr>
    <a:lvl3pPr indent="457200" defTabSz="457200" latinLnBrk="0">
      <a:lnSpc>
        <a:spcPct val="117999"/>
      </a:lnSpc>
      <a:defRPr sz="2200">
        <a:latin typeface="+mn-lt"/>
        <a:ea typeface="+mn-ea"/>
        <a:cs typeface="+mn-cs"/>
        <a:sym typeface="Helvetica Neue"/>
      </a:defRPr>
    </a:lvl3pPr>
    <a:lvl4pPr indent="685800" defTabSz="457200" latinLnBrk="0">
      <a:lnSpc>
        <a:spcPct val="117999"/>
      </a:lnSpc>
      <a:defRPr sz="2200">
        <a:latin typeface="+mn-lt"/>
        <a:ea typeface="+mn-ea"/>
        <a:cs typeface="+mn-cs"/>
        <a:sym typeface="Helvetica Neue"/>
      </a:defRPr>
    </a:lvl4pPr>
    <a:lvl5pPr indent="914400" defTabSz="457200" latinLnBrk="0">
      <a:lnSpc>
        <a:spcPct val="117999"/>
      </a:lnSpc>
      <a:defRPr sz="2200">
        <a:latin typeface="+mn-lt"/>
        <a:ea typeface="+mn-ea"/>
        <a:cs typeface="+mn-cs"/>
        <a:sym typeface="Helvetica Neue"/>
      </a:defRPr>
    </a:lvl5pPr>
    <a:lvl6pPr indent="1143000" defTabSz="457200" latinLnBrk="0">
      <a:lnSpc>
        <a:spcPct val="117999"/>
      </a:lnSpc>
      <a:defRPr sz="2200">
        <a:latin typeface="+mn-lt"/>
        <a:ea typeface="+mn-ea"/>
        <a:cs typeface="+mn-cs"/>
        <a:sym typeface="Helvetica Neue"/>
      </a:defRPr>
    </a:lvl6pPr>
    <a:lvl7pPr indent="1371600" defTabSz="457200" latinLnBrk="0">
      <a:lnSpc>
        <a:spcPct val="117999"/>
      </a:lnSpc>
      <a:defRPr sz="2200">
        <a:latin typeface="+mn-lt"/>
        <a:ea typeface="+mn-ea"/>
        <a:cs typeface="+mn-cs"/>
        <a:sym typeface="Helvetica Neue"/>
      </a:defRPr>
    </a:lvl7pPr>
    <a:lvl8pPr indent="1600200" defTabSz="457200" latinLnBrk="0">
      <a:lnSpc>
        <a:spcPct val="117999"/>
      </a:lnSpc>
      <a:defRPr sz="2200">
        <a:latin typeface="+mn-lt"/>
        <a:ea typeface="+mn-ea"/>
        <a:cs typeface="+mn-cs"/>
        <a:sym typeface="Helvetica Neue"/>
      </a:defRPr>
    </a:lvl8pPr>
    <a:lvl9pPr indent="1828800" defTabSz="457200" latinLnBrk="0">
      <a:lnSpc>
        <a:spcPct val="117999"/>
      </a:lnSpc>
      <a:defRPr sz="2200">
        <a:latin typeface="+mn-lt"/>
        <a:ea typeface="+mn-ea"/>
        <a:cs typeface="+mn-cs"/>
        <a:sym typeface="Helvetica Neue"/>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3.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4.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5.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6.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7.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8.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19.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0.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_rels/notesSlide21.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_rels/notesSlide22.xml.rels><?xml version="1.0" encoding="UTF-8"?>
<Relationships xmlns="http://schemas.openxmlformats.org/package/2006/relationships"><Relationship Id="rId1" Type="http://schemas.openxmlformats.org/officeDocument/2006/relationships/slide" Target="../slides/slide28.xml"/><Relationship Id="rId2" Type="http://schemas.openxmlformats.org/officeDocument/2006/relationships/notesMaster" Target="../notesMasters/notesMaster1.xml"/></Relationships>

</file>

<file path=ppt/notesSlides/_rels/notesSlide23.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5" name="Shape 175"/>
          <p:cNvSpPr/>
          <p:nvPr>
            <p:ph type="sldImg"/>
          </p:nvPr>
        </p:nvSpPr>
        <p:spPr>
          <a:prstGeom prst="rect">
            <a:avLst/>
          </a:prstGeom>
        </p:spPr>
        <p:txBody>
          <a:bodyPr/>
          <a:lstStyle/>
          <a:p>
            <a:pPr/>
          </a:p>
        </p:txBody>
      </p:sp>
      <p:sp>
        <p:nvSpPr>
          <p:cNvPr id="176" name="Shape 176"/>
          <p:cNvSpPr/>
          <p:nvPr>
            <p:ph type="body" sz="quarter" idx="1"/>
          </p:nvPr>
        </p:nvSpPr>
        <p:spPr>
          <a:prstGeom prst="rect">
            <a:avLst/>
          </a:prstGeom>
        </p:spPr>
        <p:txBody>
          <a:bodyPr/>
          <a:lstStyle/>
          <a:p>
            <a:pPr/>
            <a:r>
              <a:t>Highlight this symbiotic relationship between academia and open source through the lens of systems that I contribute to</a:t>
            </a:r>
          </a:p>
          <a:p>
            <a:pPr/>
          </a:p>
          <a:p>
            <a:pPr/>
            <a:r>
              <a:t>I get excited and start talking very quickly</a:t>
            </a:r>
          </a:p>
          <a:p>
            <a:pPr/>
            <a:r>
              <a:t>We have a broad audience with wonderfully diverse backgrounds, so if I use a term that’s new to you please stop me, ask me to define it.</a:t>
            </a:r>
          </a:p>
          <a:p>
            <a:pPr/>
          </a:p>
          <a:p>
            <a:pPr/>
            <a:r>
              <a:t>Why is this topic near and dear to me?</a:t>
            </a:r>
          </a:p>
          <a:p>
            <a:pPr/>
          </a:p>
          <a:p>
            <a:pPr/>
            <a:r>
              <a:t>Databricks just raised a $15bn Series J a few weeks ago, so maybe you don’t need convincing that this is real.</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9" name="Shape 179"/>
          <p:cNvSpPr/>
          <p:nvPr>
            <p:ph type="sldImg"/>
          </p:nvPr>
        </p:nvSpPr>
        <p:spPr>
          <a:prstGeom prst="rect">
            <a:avLst/>
          </a:prstGeom>
        </p:spPr>
        <p:txBody>
          <a:bodyPr/>
          <a:lstStyle/>
          <a:p>
            <a:pPr/>
          </a:p>
        </p:txBody>
      </p:sp>
      <p:sp>
        <p:nvSpPr>
          <p:cNvPr id="180" name="Shape 180"/>
          <p:cNvSpPr/>
          <p:nvPr>
            <p:ph type="body" sz="quarter" idx="1"/>
          </p:nvPr>
        </p:nvSpPr>
        <p:spPr>
          <a:prstGeom prst="rect">
            <a:avLst/>
          </a:prstGeom>
        </p:spPr>
        <p:txBody>
          <a:bodyPr/>
          <a:lstStyle/>
          <a:p>
            <a:pPr/>
            <a:r>
              <a:t>What I hope to convince you of in this talk</a:t>
            </a:r>
          </a:p>
          <a:p>
            <a:pPr/>
          </a:p>
          <a:p>
            <a:pPr/>
            <a:r>
              <a:t>Why is this topic near and dear to me?</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7" name="Shape 187"/>
          <p:cNvSpPr/>
          <p:nvPr>
            <p:ph type="sldImg"/>
          </p:nvPr>
        </p:nvSpPr>
        <p:spPr>
          <a:prstGeom prst="rect">
            <a:avLst/>
          </a:prstGeom>
        </p:spPr>
        <p:txBody>
          <a:bodyPr/>
          <a:lstStyle/>
          <a:p>
            <a:pPr/>
          </a:p>
        </p:txBody>
      </p:sp>
      <p:sp>
        <p:nvSpPr>
          <p:cNvPr id="188" name="Shape 188"/>
          <p:cNvSpPr/>
          <p:nvPr>
            <p:ph type="body" sz="quarter" idx="1"/>
          </p:nvPr>
        </p:nvSpPr>
        <p:spPr>
          <a:prstGeom prst="rect">
            <a:avLst/>
          </a:prstGeom>
        </p:spPr>
        <p:txBody>
          <a:bodyPr/>
          <a:lstStyle/>
          <a:p>
            <a:pPr/>
            <a:r>
              <a:t>I love database systems! At the bottom of every important application is a DBMS. I think they’re an awesome of intersection of a lot of different areas of computer science: interesting algorithmic and ML problems in query optimization, PL problems with code generation and debugging, low-level systems and hardware knowledge with query execution and storage design.</a:t>
            </a:r>
          </a:p>
          <a:p>
            <a:pPr/>
          </a:p>
          <a:p>
            <a:pPr/>
            <a:r>
              <a:t>PhD from CMU. I researched DBMS and OS co-design using eBPF</a:t>
            </a:r>
          </a:p>
          <a:p>
            <a:pPr/>
          </a:p>
          <a:p>
            <a:pPr/>
            <a:r>
              <a:t>I now work at Apple as a Distributed Database Engineer primarily working on open-source Apache projects like DataFusion Comet, DataFusion, Spark, Arrow.</a:t>
            </a:r>
          </a:p>
          <a:p>
            <a:pPr/>
          </a:p>
          <a:p>
            <a:pPr/>
            <a:r>
              <a:t>, so any of that sounds interesting let’s chat.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1" name="Shape 191"/>
          <p:cNvSpPr/>
          <p:nvPr>
            <p:ph type="sldImg"/>
          </p:nvPr>
        </p:nvSpPr>
        <p:spPr>
          <a:prstGeom prst="rect">
            <a:avLst/>
          </a:prstGeom>
        </p:spPr>
        <p:txBody>
          <a:bodyPr/>
          <a:lstStyle/>
          <a:p>
            <a:pPr/>
          </a:p>
        </p:txBody>
      </p:sp>
      <p:sp>
        <p:nvSpPr>
          <p:cNvPr id="192" name="Shape 192"/>
          <p:cNvSpPr/>
          <p:nvPr>
            <p:ph type="body" sz="quarter" idx="1"/>
          </p:nvPr>
        </p:nvSpPr>
        <p:spPr>
          <a:prstGeom prst="rect">
            <a:avLst/>
          </a:prstGeom>
        </p:spPr>
        <p:txBody>
          <a:bodyPr/>
          <a:lstStyle/>
          <a:p>
            <a:pPr/>
            <a:r>
              <a:t>This isn’t about me, so let’s dive right in</a:t>
            </a:r>
          </a:p>
          <a:p>
            <a:pPr/>
          </a:p>
          <a:p>
            <a:pPr/>
            <a:r>
              <a:t>What does that mean in practice? If you’re building an application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0" name="Shape 230"/>
          <p:cNvSpPr/>
          <p:nvPr>
            <p:ph type="sldImg"/>
          </p:nvPr>
        </p:nvSpPr>
        <p:spPr>
          <a:prstGeom prst="rect">
            <a:avLst/>
          </a:prstGeom>
        </p:spPr>
        <p:txBody>
          <a:bodyPr/>
          <a:lstStyle/>
          <a:p>
            <a:pPr/>
          </a:p>
        </p:txBody>
      </p:sp>
      <p:sp>
        <p:nvSpPr>
          <p:cNvPr id="231" name="Shape 231"/>
          <p:cNvSpPr/>
          <p:nvPr>
            <p:ph type="body" sz="quarter" idx="1"/>
          </p:nvPr>
        </p:nvSpPr>
        <p:spPr>
          <a:prstGeom prst="rect">
            <a:avLst/>
          </a:prstGeom>
        </p:spPr>
        <p:txBody>
          <a:bodyPr/>
          <a:lstStyle/>
          <a:p>
            <a:pPr/>
            <a:r>
              <a:t>Andrew Lamb described DataFusion as the LLVM of databases. A framework around which to build composable database management systems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7" name="Shape 237"/>
          <p:cNvSpPr/>
          <p:nvPr>
            <p:ph type="sldImg"/>
          </p:nvPr>
        </p:nvSpPr>
        <p:spPr>
          <a:prstGeom prst="rect">
            <a:avLst/>
          </a:prstGeom>
        </p:spPr>
        <p:txBody>
          <a:bodyPr/>
          <a:lstStyle/>
          <a:p>
            <a:pPr/>
          </a:p>
        </p:txBody>
      </p:sp>
      <p:sp>
        <p:nvSpPr>
          <p:cNvPr id="238" name="Shape 238"/>
          <p:cNvSpPr/>
          <p:nvPr>
            <p:ph type="body" sz="quarter" idx="1"/>
          </p:nvPr>
        </p:nvSpPr>
        <p:spPr>
          <a:prstGeom prst="rect">
            <a:avLst/>
          </a:prstGeom>
        </p:spPr>
        <p:txBody>
          <a:bodyPr/>
          <a:lstStyle/>
          <a:p>
            <a:pPr/>
            <a:r>
              <a:t>SIGMOD paper in 2024 providing an overview</a:t>
            </a:r>
          </a:p>
          <a:p>
            <a:pPr/>
            <a:r>
              <a:t>A couple of Apple authors from my team</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3" name="Shape 243"/>
          <p:cNvSpPr/>
          <p:nvPr>
            <p:ph type="sldImg"/>
          </p:nvPr>
        </p:nvSpPr>
        <p:spPr>
          <a:prstGeom prst="rect">
            <a:avLst/>
          </a:prstGeom>
        </p:spPr>
        <p:txBody>
          <a:bodyPr/>
          <a:lstStyle/>
          <a:p>
            <a:pPr/>
          </a:p>
        </p:txBody>
      </p:sp>
      <p:sp>
        <p:nvSpPr>
          <p:cNvPr id="244" name="Shape 244"/>
          <p:cNvSpPr/>
          <p:nvPr>
            <p:ph type="body" sz="quarter" idx="1"/>
          </p:nvPr>
        </p:nvSpPr>
        <p:spPr>
          <a:prstGeom prst="rect">
            <a:avLst/>
          </a:prstGeom>
        </p:spPr>
        <p:txBody>
          <a:bodyPr/>
          <a:lstStyle/>
          <a:p>
            <a:pPr/>
            <a:r>
              <a:t>Object stores</a:t>
            </a:r>
          </a:p>
          <a:p>
            <a:pPr/>
          </a:p>
          <a:p>
            <a:pPr/>
            <a:r>
              <a:t>If you just want to query some local CSV or Parquet files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5" name="Shape 255"/>
          <p:cNvSpPr/>
          <p:nvPr>
            <p:ph type="sldImg"/>
          </p:nvPr>
        </p:nvSpPr>
        <p:spPr>
          <a:prstGeom prst="rect">
            <a:avLst/>
          </a:prstGeom>
        </p:spPr>
        <p:txBody>
          <a:bodyPr/>
          <a:lstStyle/>
          <a:p>
            <a:pPr/>
          </a:p>
        </p:txBody>
      </p:sp>
      <p:sp>
        <p:nvSpPr>
          <p:cNvPr id="256" name="Shape 256"/>
          <p:cNvSpPr/>
          <p:nvPr>
            <p:ph type="body" sz="quarter" idx="1"/>
          </p:nvPr>
        </p:nvSpPr>
        <p:spPr>
          <a:prstGeom prst="rect">
            <a:avLst/>
          </a:prstGeom>
        </p:spPr>
        <p:txBody>
          <a:bodyPr/>
          <a:lstStyle/>
          <a:p>
            <a:pPr/>
            <a:r>
              <a:t>This if from November, DuckDB has since jumped again, but DataFusion folks are working on it</a:t>
            </a:r>
          </a:p>
          <a:p>
            <a:pPr/>
          </a:p>
          <a:p>
            <a:pPr/>
            <a:r>
              <a:t>One of the ideas that contributed to these performance improvements is German-style strings.</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1" name="Shape 261"/>
          <p:cNvSpPr/>
          <p:nvPr>
            <p:ph type="sldImg"/>
          </p:nvPr>
        </p:nvSpPr>
        <p:spPr>
          <a:prstGeom prst="rect">
            <a:avLst/>
          </a:prstGeom>
        </p:spPr>
        <p:txBody>
          <a:bodyPr/>
          <a:lstStyle/>
          <a:p>
            <a:pPr/>
          </a:p>
        </p:txBody>
      </p:sp>
      <p:sp>
        <p:nvSpPr>
          <p:cNvPr id="262" name="Shape 262"/>
          <p:cNvSpPr/>
          <p:nvPr>
            <p:ph type="body" sz="quarter" idx="1"/>
          </p:nvPr>
        </p:nvSpPr>
        <p:spPr>
          <a:prstGeom prst="rect">
            <a:avLst/>
          </a:prstGeom>
        </p:spPr>
        <p:txBody>
          <a:bodyPr/>
          <a:lstStyle/>
          <a:p>
            <a:pPr/>
            <a:r>
              <a:t>Takeaways</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1" name="Shape 271"/>
          <p:cNvSpPr/>
          <p:nvPr>
            <p:ph type="sldImg"/>
          </p:nvPr>
        </p:nvSpPr>
        <p:spPr>
          <a:prstGeom prst="rect">
            <a:avLst/>
          </a:prstGeom>
        </p:spPr>
        <p:txBody>
          <a:bodyPr/>
          <a:lstStyle/>
          <a:p>
            <a:pPr/>
          </a:p>
        </p:txBody>
      </p:sp>
      <p:sp>
        <p:nvSpPr>
          <p:cNvPr id="272" name="Shape 272"/>
          <p:cNvSpPr/>
          <p:nvPr>
            <p:ph type="body" sz="quarter" idx="1"/>
          </p:nvPr>
        </p:nvSpPr>
        <p:spPr>
          <a:prstGeom prst="rect">
            <a:avLst/>
          </a:prstGeom>
        </p:spPr>
        <p:txBody>
          <a:bodyPr/>
          <a:lstStyle/>
          <a:p>
            <a:pPr/>
            <a:r>
              <a:t>HyPer was a ground-breaking in-memory system that helped popularize JIT compilation, MVCC over columnar data, ART indexes</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7" name="Shape 287"/>
          <p:cNvSpPr/>
          <p:nvPr>
            <p:ph type="sldImg"/>
          </p:nvPr>
        </p:nvSpPr>
        <p:spPr>
          <a:prstGeom prst="rect">
            <a:avLst/>
          </a:prstGeom>
        </p:spPr>
        <p:txBody>
          <a:bodyPr/>
          <a:lstStyle/>
          <a:p>
            <a:pPr/>
          </a:p>
        </p:txBody>
      </p:sp>
      <p:sp>
        <p:nvSpPr>
          <p:cNvPr id="288" name="Shape 288"/>
          <p:cNvSpPr/>
          <p:nvPr>
            <p:ph type="body" sz="quarter" idx="1"/>
          </p:nvPr>
        </p:nvSpPr>
        <p:spPr>
          <a:prstGeom prst="rect">
            <a:avLst/>
          </a:prstGeom>
        </p:spPr>
        <p:txBody>
          <a:bodyPr/>
          <a:lstStyle/>
          <a:p>
            <a:pPr/>
            <a:r>
              <a:t>Strings are generally going to reside on the heap instead of the stack</a:t>
            </a:r>
          </a:p>
          <a:p>
            <a:pPr/>
          </a:p>
          <a:p>
            <a:pPr/>
            <a:r>
              <a:t>If we can keep it in stack, we can keep it in CPU registers</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4" name="Shape 294"/>
          <p:cNvSpPr/>
          <p:nvPr>
            <p:ph type="sldImg"/>
          </p:nvPr>
        </p:nvSpPr>
        <p:spPr>
          <a:prstGeom prst="rect">
            <a:avLst/>
          </a:prstGeom>
        </p:spPr>
        <p:txBody>
          <a:bodyPr/>
          <a:lstStyle/>
          <a:p>
            <a:pPr/>
          </a:p>
        </p:txBody>
      </p:sp>
      <p:sp>
        <p:nvSpPr>
          <p:cNvPr id="295" name="Shape 295"/>
          <p:cNvSpPr/>
          <p:nvPr>
            <p:ph type="body" sz="quarter" idx="1"/>
          </p:nvPr>
        </p:nvSpPr>
        <p:spPr>
          <a:prstGeom prst="rect">
            <a:avLst/>
          </a:prstGeom>
        </p:spPr>
        <p:txBody>
          <a:bodyPr/>
          <a:lstStyle/>
          <a:p>
            <a:pPr/>
            <a:r>
              <a:t>Based on common workloads, how can we do better?</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0" name="Shape 310"/>
          <p:cNvSpPr/>
          <p:nvPr>
            <p:ph type="sldImg"/>
          </p:nvPr>
        </p:nvSpPr>
        <p:spPr>
          <a:prstGeom prst="rect">
            <a:avLst/>
          </a:prstGeom>
        </p:spPr>
        <p:txBody>
          <a:bodyPr/>
          <a:lstStyle/>
          <a:p>
            <a:pPr/>
          </a:p>
        </p:txBody>
      </p:sp>
      <p:sp>
        <p:nvSpPr>
          <p:cNvPr id="311" name="Shape 311"/>
          <p:cNvSpPr/>
          <p:nvPr>
            <p:ph type="body" sz="quarter" idx="1"/>
          </p:nvPr>
        </p:nvSpPr>
        <p:spPr>
          <a:prstGeom prst="rect">
            <a:avLst/>
          </a:prstGeom>
        </p:spPr>
        <p:txBody>
          <a:bodyPr/>
          <a:lstStyle/>
          <a:p>
            <a:pPr/>
            <a:r>
              <a:t>Every string starts as a 128-bit object</a:t>
            </a:r>
          </a:p>
          <a:p>
            <a:pPr/>
          </a:p>
          <a:p>
            <a:pPr/>
            <a:r>
              <a:t>4 level paging: 48 bits, 5 level paging 57 bits</a:t>
            </a:r>
          </a:p>
          <a:p>
            <a:pPr/>
          </a:p>
          <a:p>
            <a:pPr/>
            <a:r>
              <a:t>Prefix enables faster equality and ordering operations</a:t>
            </a:r>
          </a:p>
          <a:p>
            <a:pPr/>
          </a:p>
          <a:p>
            <a:pPr/>
            <a:r>
              <a:t>Pointer can reference original parquet data, deduplicate data</a:t>
            </a:r>
          </a:p>
          <a:p>
            <a:pPr/>
          </a:p>
          <a:p>
            <a:pPr/>
            <a:r>
              <a:t>Downsides: every string takes 128 bits</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7" name="Shape 317"/>
          <p:cNvSpPr/>
          <p:nvPr>
            <p:ph type="sldImg"/>
          </p:nvPr>
        </p:nvSpPr>
        <p:spPr>
          <a:prstGeom prst="rect">
            <a:avLst/>
          </a:prstGeom>
        </p:spPr>
        <p:txBody>
          <a:bodyPr/>
          <a:lstStyle/>
          <a:p>
            <a:pPr/>
          </a:p>
        </p:txBody>
      </p:sp>
      <p:sp>
        <p:nvSpPr>
          <p:cNvPr id="318" name="Shape 318"/>
          <p:cNvSpPr/>
          <p:nvPr>
            <p:ph type="body" sz="quarter" idx="1"/>
          </p:nvPr>
        </p:nvSpPr>
        <p:spPr>
          <a:prstGeom prst="rect">
            <a:avLst/>
          </a:prstGeom>
        </p:spPr>
        <p:txBody>
          <a:bodyPr/>
          <a:lstStyle/>
          <a:p>
            <a:pPr/>
            <a:r>
              <a:t>Click bench, overall 8%</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6" name="Shape 326"/>
          <p:cNvSpPr/>
          <p:nvPr>
            <p:ph type="sldImg"/>
          </p:nvPr>
        </p:nvSpPr>
        <p:spPr>
          <a:prstGeom prst="rect">
            <a:avLst/>
          </a:prstGeom>
        </p:spPr>
        <p:txBody>
          <a:bodyPr/>
          <a:lstStyle/>
          <a:p>
            <a:pPr/>
          </a:p>
        </p:txBody>
      </p:sp>
      <p:sp>
        <p:nvSpPr>
          <p:cNvPr id="327" name="Shape 327"/>
          <p:cNvSpPr/>
          <p:nvPr>
            <p:ph type="body" sz="quarter" idx="1"/>
          </p:nvPr>
        </p:nvSpPr>
        <p:spPr>
          <a:prstGeom prst="rect">
            <a:avLst/>
          </a:prstGeom>
        </p:spPr>
        <p:txBody>
          <a:bodyPr/>
          <a:lstStyle/>
          <a:p>
            <a:pPr/>
            <a:r>
              <a:t>Response to MapReduce processing</a:t>
            </a:r>
          </a:p>
          <a:p>
            <a:pPr/>
            <a:r>
              <a:t>Thousands of machines, petabyte-scale operations</a:t>
            </a:r>
          </a:p>
          <a:p>
            <a:pPr/>
            <a:r>
              <a:t>Columns A, B, C</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3" name="Shape 353"/>
          <p:cNvSpPr/>
          <p:nvPr>
            <p:ph type="sldImg"/>
          </p:nvPr>
        </p:nvSpPr>
        <p:spPr>
          <a:prstGeom prst="rect">
            <a:avLst/>
          </a:prstGeom>
        </p:spPr>
        <p:txBody>
          <a:bodyPr/>
          <a:lstStyle/>
          <a:p>
            <a:pPr/>
          </a:p>
        </p:txBody>
      </p:sp>
      <p:sp>
        <p:nvSpPr>
          <p:cNvPr id="354" name="Shape 354"/>
          <p:cNvSpPr/>
          <p:nvPr>
            <p:ph type="body" sz="quarter" idx="1"/>
          </p:nvPr>
        </p:nvSpPr>
        <p:spPr>
          <a:prstGeom prst="rect">
            <a:avLst/>
          </a:prstGeom>
        </p:spPr>
        <p:txBody>
          <a:bodyPr/>
          <a:lstStyle/>
          <a:p>
            <a:pPr/>
            <a:r>
              <a:t>Response to MapReduce processing</a:t>
            </a:r>
          </a:p>
          <a:p>
            <a:pPr/>
            <a:r>
              <a:t>Thousands of machines, petabyte-scale operations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0" name="Shape 390"/>
          <p:cNvSpPr/>
          <p:nvPr>
            <p:ph type="sldImg"/>
          </p:nvPr>
        </p:nvSpPr>
        <p:spPr>
          <a:prstGeom prst="rect">
            <a:avLst/>
          </a:prstGeom>
        </p:spPr>
        <p:txBody>
          <a:bodyPr/>
          <a:lstStyle/>
          <a:p>
            <a:pPr/>
          </a:p>
        </p:txBody>
      </p:sp>
      <p:sp>
        <p:nvSpPr>
          <p:cNvPr id="391" name="Shape 391"/>
          <p:cNvSpPr/>
          <p:nvPr>
            <p:ph type="body" sz="quarter" idx="1"/>
          </p:nvPr>
        </p:nvSpPr>
        <p:spPr>
          <a:prstGeom prst="rect">
            <a:avLst/>
          </a:prstGeom>
        </p:spPr>
        <p:txBody>
          <a:bodyPr/>
          <a:lstStyle/>
          <a:p>
            <a:pPr/>
            <a:r>
              <a:t>Response to MapReduce processing</a:t>
            </a:r>
          </a:p>
          <a:p>
            <a:pPr/>
            <a:r>
              <a:t>Thousands of machines, petabyte-scale operations</a:t>
            </a:r>
          </a:p>
          <a:p>
            <a:pPr/>
            <a:r>
              <a:t>This is not a completely new idea</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7" name="Shape 397"/>
          <p:cNvSpPr/>
          <p:nvPr>
            <p:ph type="sldImg"/>
          </p:nvPr>
        </p:nvSpPr>
        <p:spPr>
          <a:prstGeom prst="rect">
            <a:avLst/>
          </a:prstGeom>
        </p:spPr>
        <p:txBody>
          <a:bodyPr/>
          <a:lstStyle/>
          <a:p>
            <a:pPr/>
          </a:p>
        </p:txBody>
      </p:sp>
      <p:sp>
        <p:nvSpPr>
          <p:cNvPr id="398" name="Shape 398"/>
          <p:cNvSpPr/>
          <p:nvPr>
            <p:ph type="body" sz="quarter" idx="1"/>
          </p:nvPr>
        </p:nvSpPr>
        <p:spPr>
          <a:prstGeom prst="rect">
            <a:avLst/>
          </a:prstGeom>
        </p:spPr>
        <p:txBody>
          <a:bodyPr/>
          <a:lstStyle/>
          <a:p>
            <a:pPr/>
            <a:r>
              <a:t>SIGMOD 2022</a:t>
            </a:r>
          </a:p>
          <a:p>
            <a:pPr/>
            <a:r>
              <a:t>Rare in an industry paper</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8" name="Shape 408"/>
          <p:cNvSpPr/>
          <p:nvPr>
            <p:ph type="sldImg"/>
          </p:nvPr>
        </p:nvSpPr>
        <p:spPr>
          <a:prstGeom prst="rect">
            <a:avLst/>
          </a:prstGeom>
        </p:spPr>
        <p:txBody>
          <a:bodyPr/>
          <a:lstStyle/>
          <a:p>
            <a:pPr/>
          </a:p>
        </p:txBody>
      </p:sp>
      <p:sp>
        <p:nvSpPr>
          <p:cNvPr id="409" name="Shape 409"/>
          <p:cNvSpPr/>
          <p:nvPr>
            <p:ph type="body" sz="quarter" idx="1"/>
          </p:nvPr>
        </p:nvSpPr>
        <p:spPr>
          <a:prstGeom prst="rect">
            <a:avLst/>
          </a:prstGeom>
        </p:spPr>
        <p:txBody>
          <a:bodyPr/>
          <a:lstStyle/>
          <a:p>
            <a:pPr/>
            <a:r>
              <a:t>tpc-h ~2x speedup</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0" name="Shape 420"/>
          <p:cNvSpPr/>
          <p:nvPr>
            <p:ph type="sldImg"/>
          </p:nvPr>
        </p:nvSpPr>
        <p:spPr>
          <a:prstGeom prst="rect">
            <a:avLst/>
          </a:prstGeom>
        </p:spPr>
        <p:txBody>
          <a:bodyPr/>
          <a:lstStyle/>
          <a:p>
            <a:pPr/>
          </a:p>
        </p:txBody>
      </p:sp>
      <p:sp>
        <p:nvSpPr>
          <p:cNvPr id="421" name="Shape 421"/>
          <p:cNvSpPr/>
          <p:nvPr>
            <p:ph type="body" sz="quarter" idx="1"/>
          </p:nvPr>
        </p:nvSpPr>
        <p:spPr>
          <a:prstGeom prst="rect">
            <a:avLst/>
          </a:prstGeom>
        </p:spPr>
        <p:txBody>
          <a:bodyPr/>
          <a:lstStyle/>
          <a:p>
            <a:pPr/>
            <a:r>
              <a:t>Beginner issues, we’ve had fantastic new contributors the last few months</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7" name="Shape 427"/>
          <p:cNvSpPr/>
          <p:nvPr>
            <p:ph type="sldImg"/>
          </p:nvPr>
        </p:nvSpPr>
        <p:spPr>
          <a:prstGeom prst="rect">
            <a:avLst/>
          </a:prstGeom>
        </p:spPr>
        <p:txBody>
          <a:bodyPr/>
          <a:lstStyle/>
          <a:p>
            <a:pPr/>
          </a:p>
        </p:txBody>
      </p:sp>
      <p:sp>
        <p:nvSpPr>
          <p:cNvPr id="428" name="Shape 428"/>
          <p:cNvSpPr/>
          <p:nvPr>
            <p:ph type="body" sz="quarter" idx="1"/>
          </p:nvPr>
        </p:nvSpPr>
        <p:spPr>
          <a:prstGeom prst="rect">
            <a:avLst/>
          </a:prstGeom>
        </p:spPr>
        <p:txBody>
          <a:bodyPr/>
          <a:lstStyle/>
          <a:p>
            <a:pPr/>
            <a:r>
              <a:t>Playlists for introduction to database systems course, graduated courses (special topics, advanced DBMSs), seminar series</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3" name="Shape 433"/>
          <p:cNvSpPr/>
          <p:nvPr>
            <p:ph type="sldImg"/>
          </p:nvPr>
        </p:nvSpPr>
        <p:spPr>
          <a:prstGeom prst="rect">
            <a:avLst/>
          </a:prstGeom>
        </p:spPr>
        <p:txBody>
          <a:bodyPr/>
          <a:lstStyle/>
          <a:p>
            <a:pPr/>
          </a:p>
        </p:txBody>
      </p:sp>
      <p:sp>
        <p:nvSpPr>
          <p:cNvPr id="434" name="Shape 434"/>
          <p:cNvSpPr/>
          <p:nvPr>
            <p:ph type="body" sz="quarter" idx="1"/>
          </p:nvPr>
        </p:nvSpPr>
        <p:spPr>
          <a:prstGeom prst="rect">
            <a:avLst/>
          </a:prstGeom>
        </p:spPr>
        <p:txBody>
          <a:bodyPr/>
          <a:lstStyle/>
          <a:p>
            <a:pPr/>
            <a:r>
              <a:t>#dbs, #papers channels in Software Internals</a:t>
            </a:r>
          </a:p>
          <a:p>
            <a:pPr/>
          </a:p>
          <a:p>
            <a:pPr/>
            <a:r>
              <a:t>If these don’t work, email me or something</a:t>
            </a:r>
          </a:p>
          <a:p>
            <a:pPr/>
            <a:r>
              <a:t>ASF Slack needs an invite, if it’s important to you let me know.</a:t>
            </a: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40" name="Shape 440"/>
          <p:cNvSpPr/>
          <p:nvPr>
            <p:ph type="sldImg"/>
          </p:nvPr>
        </p:nvSpPr>
        <p:spPr>
          <a:prstGeom prst="rect">
            <a:avLst/>
          </a:prstGeom>
        </p:spPr>
        <p:txBody>
          <a:bodyPr/>
          <a:lstStyle/>
          <a:p>
            <a:pPr/>
          </a:p>
        </p:txBody>
      </p:sp>
      <p:sp>
        <p:nvSpPr>
          <p:cNvPr id="441" name="Shape 441"/>
          <p:cNvSpPr/>
          <p:nvPr>
            <p:ph type="body" sz="quarter" idx="1"/>
          </p:nvPr>
        </p:nvSpPr>
        <p:spPr>
          <a:prstGeom prst="rect">
            <a:avLst/>
          </a:prstGeom>
        </p:spPr>
        <p:txBody>
          <a:bodyPr/>
          <a:lstStyle/>
          <a:p>
            <a:pPr/>
            <a:r>
              <a:t>I will put the slides on the Discord</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p:spTree>
      <p:nvGrpSpPr>
        <p:cNvPr id="1" name=""/>
        <p:cNvGrpSpPr/>
        <p:nvPr/>
      </p:nvGrpSpPr>
      <p:grpSpPr>
        <a:xfrm>
          <a:off x="0" y="0"/>
          <a:ext cx="0" cy="0"/>
          <a:chOff x="0" y="0"/>
          <a:chExt cx="0" cy="0"/>
        </a:xfrm>
      </p:grpSpPr>
      <p:sp>
        <p:nvSpPr>
          <p:cNvPr id="11" name="Author and Date"/>
          <p:cNvSpPr txBox="1"/>
          <p:nvPr>
            <p:ph type="body" sz="quarter" idx="21" hasCustomPrompt="1"/>
          </p:nvPr>
        </p:nvSpPr>
        <p:spPr>
          <a:xfrm>
            <a:off x="1206498" y="11839048"/>
            <a:ext cx="21971003" cy="636979"/>
          </a:xfrm>
          <a:prstGeom prst="rect">
            <a:avLst/>
          </a:prstGeom>
        </p:spPr>
        <p:txBody>
          <a:bodyPr lIns="45719" tIns="45719" rIns="45719" bIns="45719" anchor="b"/>
          <a:lstStyle>
            <a:lvl1pPr marL="0" indent="0" defTabSz="825500">
              <a:lnSpc>
                <a:spcPct val="100000"/>
              </a:lnSpc>
              <a:spcBef>
                <a:spcPts val="0"/>
              </a:spcBef>
              <a:buSzTx/>
              <a:buNone/>
              <a:defRPr b="1" sz="3600"/>
            </a:lvl1pPr>
          </a:lstStyle>
          <a:p>
            <a:pPr/>
            <a:r>
              <a:t>Author and Date</a:t>
            </a:r>
          </a:p>
        </p:txBody>
      </p:sp>
      <p:sp>
        <p:nvSpPr>
          <p:cNvPr id="12" name="Presentation Title"/>
          <p:cNvSpPr txBox="1"/>
          <p:nvPr>
            <p:ph type="title" hasCustomPrompt="1"/>
          </p:nvPr>
        </p:nvSpPr>
        <p:spPr>
          <a:xfrm>
            <a:off x="1206496" y="2574991"/>
            <a:ext cx="21971004" cy="4648201"/>
          </a:xfrm>
          <a:prstGeom prst="rect">
            <a:avLst/>
          </a:prstGeom>
        </p:spPr>
        <p:txBody>
          <a:bodyPr anchor="b"/>
          <a:lstStyle>
            <a:lvl1pPr>
              <a:defRPr spc="-232" sz="11600"/>
            </a:lvl1pPr>
          </a:lstStyle>
          <a:p>
            <a:pPr/>
            <a:r>
              <a:t>Presentation Title</a:t>
            </a:r>
          </a:p>
        </p:txBody>
      </p:sp>
      <p:sp>
        <p:nvSpPr>
          <p:cNvPr id="13" name="Body Level One…"/>
          <p:cNvSpPr txBox="1"/>
          <p:nvPr>
            <p:ph type="body" sz="quarter" idx="1" hasCustomPrompt="1"/>
          </p:nvPr>
        </p:nvSpPr>
        <p:spPr>
          <a:xfrm>
            <a:off x="1206500" y="7196865"/>
            <a:ext cx="21971000" cy="1905001"/>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a:t>
            </a:r>
          </a:p>
          <a:p>
            <a:pPr lvl="1"/>
            <a:r>
              <a:t/>
            </a:r>
          </a:p>
          <a:p>
            <a:pPr lvl="2"/>
            <a:r>
              <a:t/>
            </a:r>
          </a:p>
          <a:p>
            <a:pPr lvl="3"/>
            <a:r>
              <a:t/>
            </a:r>
          </a:p>
          <a:p>
            <a:pPr lvl="4"/>
            <a:r>
              <a:t/>
            </a:r>
          </a:p>
        </p:txBody>
      </p:sp>
      <p:sp>
        <p:nvSpPr>
          <p:cNvPr id="14" name="Slide Number"/>
          <p:cNvSpPr txBox="1"/>
          <p:nvPr>
            <p:ph type="sldNum" sz="quarter" idx="2"/>
          </p:nvPr>
        </p:nvSpPr>
        <p:spPr>
          <a:xfrm>
            <a:off x="12007748" y="13080999"/>
            <a:ext cx="368504"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p:spTree>
      <p:nvGrpSpPr>
        <p:cNvPr id="1" name=""/>
        <p:cNvGrpSpPr/>
        <p:nvPr/>
      </p:nvGrpSpPr>
      <p:grpSpPr>
        <a:xfrm>
          <a:off x="0" y="0"/>
          <a:ext cx="0" cy="0"/>
          <a:chOff x="0" y="0"/>
          <a:chExt cx="0" cy="0"/>
        </a:xfrm>
      </p:grpSpPr>
      <p:sp>
        <p:nvSpPr>
          <p:cNvPr id="21" name="Green, hilly landscape"/>
          <p:cNvSpPr/>
          <p:nvPr>
            <p:ph type="pic" idx="21"/>
          </p:nvPr>
        </p:nvSpPr>
        <p:spPr>
          <a:xfrm>
            <a:off x="-431800" y="-4038600"/>
            <a:ext cx="29464000" cy="18034000"/>
          </a:xfrm>
          <a:prstGeom prst="rect">
            <a:avLst/>
          </a:prstGeom>
        </p:spPr>
        <p:txBody>
          <a:bodyPr lIns="91439" tIns="45719" rIns="91439" bIns="45719">
            <a:noAutofit/>
          </a:bodyPr>
          <a:lstStyle/>
          <a:p>
            <a:pPr/>
          </a:p>
        </p:txBody>
      </p:sp>
      <p:sp>
        <p:nvSpPr>
          <p:cNvPr id="22" name="Presentation Title"/>
          <p:cNvSpPr txBox="1"/>
          <p:nvPr>
            <p:ph type="title" hasCustomPrompt="1"/>
          </p:nvPr>
        </p:nvSpPr>
        <p:spPr>
          <a:xfrm>
            <a:off x="1206500" y="7124700"/>
            <a:ext cx="21971000" cy="4648200"/>
          </a:xfrm>
          <a:prstGeom prst="rect">
            <a:avLst/>
          </a:prstGeom>
        </p:spPr>
        <p:txBody>
          <a:bodyPr anchor="b"/>
          <a:lstStyle>
            <a:lvl1pPr>
              <a:defRPr spc="-232" sz="11600"/>
            </a:lvl1pPr>
          </a:lstStyle>
          <a:p>
            <a:pPr/>
            <a:r>
              <a:t>Presentation Title</a:t>
            </a:r>
          </a:p>
        </p:txBody>
      </p:sp>
      <p:sp>
        <p:nvSpPr>
          <p:cNvPr id="23" name="Author and Date"/>
          <p:cNvSpPr txBox="1"/>
          <p:nvPr>
            <p:ph type="body" sz="quarter" idx="22" hasCustomPrompt="1"/>
          </p:nvPr>
        </p:nvSpPr>
        <p:spPr>
          <a:xfrm>
            <a:off x="1207690" y="1106137"/>
            <a:ext cx="21968621"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Author and Date</a:t>
            </a:r>
          </a:p>
        </p:txBody>
      </p:sp>
      <p:sp>
        <p:nvSpPr>
          <p:cNvPr id="24" name="Body Level One…"/>
          <p:cNvSpPr txBox="1"/>
          <p:nvPr>
            <p:ph type="body" sz="quarter" idx="1" hasCustomPrompt="1"/>
          </p:nvPr>
        </p:nvSpPr>
        <p:spPr>
          <a:xfrm>
            <a:off x="1206500" y="11609910"/>
            <a:ext cx="21971000" cy="1144688"/>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Presentation Subtitle </a:t>
            </a:r>
          </a:p>
          <a:p>
            <a:pPr lvl="1"/>
            <a:r>
              <a:t/>
            </a:r>
          </a:p>
          <a:p>
            <a:pPr lvl="2"/>
            <a:r>
              <a:t/>
            </a:r>
          </a:p>
          <a:p>
            <a:pPr lvl="3"/>
            <a:r>
              <a:t/>
            </a:r>
          </a:p>
          <a:p>
            <a:pPr lvl="4"/>
            <a:r>
              <a:t/>
            </a:r>
          </a:p>
        </p:txBody>
      </p:sp>
      <p:sp>
        <p:nvSpPr>
          <p:cNvPr id="2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Photo Alt">
    <p:spTree>
      <p:nvGrpSpPr>
        <p:cNvPr id="1" name=""/>
        <p:cNvGrpSpPr/>
        <p:nvPr/>
      </p:nvGrpSpPr>
      <p:grpSpPr>
        <a:xfrm>
          <a:off x="0" y="0"/>
          <a:ext cx="0" cy="0"/>
          <a:chOff x="0" y="0"/>
          <a:chExt cx="0" cy="0"/>
        </a:xfrm>
      </p:grpSpPr>
      <p:sp>
        <p:nvSpPr>
          <p:cNvPr id="32" name="Slide Title"/>
          <p:cNvSpPr txBox="1"/>
          <p:nvPr>
            <p:ph type="title" hasCustomPrompt="1"/>
          </p:nvPr>
        </p:nvSpPr>
        <p:spPr>
          <a:xfrm>
            <a:off x="1206500" y="1270000"/>
            <a:ext cx="9779000" cy="5882273"/>
          </a:xfrm>
          <a:prstGeom prst="rect">
            <a:avLst/>
          </a:prstGeom>
        </p:spPr>
        <p:txBody>
          <a:bodyPr anchor="b"/>
          <a:lstStyle/>
          <a:p>
            <a:pPr/>
            <a:r>
              <a:t>Slide Title</a:t>
            </a:r>
          </a:p>
        </p:txBody>
      </p:sp>
      <p:sp>
        <p:nvSpPr>
          <p:cNvPr id="33" name="Body Level One…"/>
          <p:cNvSpPr txBox="1"/>
          <p:nvPr>
            <p:ph type="body" sz="quarter" idx="1" hasCustomPrompt="1"/>
          </p:nvPr>
        </p:nvSpPr>
        <p:spPr>
          <a:xfrm>
            <a:off x="1206500" y="7060576"/>
            <a:ext cx="9779000" cy="5382403"/>
          </a:xfrm>
          <a:prstGeom prst="rect">
            <a:avLst/>
          </a:prstGeom>
        </p:spPr>
        <p:txBody>
          <a:bodyPr/>
          <a:lstStyle>
            <a:lvl1pPr marL="0" indent="0" defTabSz="825500">
              <a:lnSpc>
                <a:spcPct val="100000"/>
              </a:lnSpc>
              <a:spcBef>
                <a:spcPts val="0"/>
              </a:spcBef>
              <a:buSzTx/>
              <a:buNone/>
              <a:defRPr b="1" sz="5500"/>
            </a:lvl1pPr>
            <a:lvl2pPr marL="0" indent="457200" defTabSz="825500">
              <a:lnSpc>
                <a:spcPct val="100000"/>
              </a:lnSpc>
              <a:spcBef>
                <a:spcPts val="0"/>
              </a:spcBef>
              <a:buSzTx/>
              <a:buNone/>
              <a:defRPr b="1" sz="5500"/>
            </a:lvl2pPr>
            <a:lvl3pPr marL="0" indent="914400" defTabSz="825500">
              <a:lnSpc>
                <a:spcPct val="100000"/>
              </a:lnSpc>
              <a:spcBef>
                <a:spcPts val="0"/>
              </a:spcBef>
              <a:buSzTx/>
              <a:buNone/>
              <a:defRPr b="1" sz="5500"/>
            </a:lvl3pPr>
            <a:lvl4pPr marL="0" indent="1371600" defTabSz="825500">
              <a:lnSpc>
                <a:spcPct val="100000"/>
              </a:lnSpc>
              <a:spcBef>
                <a:spcPts val="0"/>
              </a:spcBef>
              <a:buSzTx/>
              <a:buNone/>
              <a:defRPr b="1" sz="5500"/>
            </a:lvl4pPr>
            <a:lvl5pPr marL="0" indent="1828800" defTabSz="825500">
              <a:lnSpc>
                <a:spcPct val="100000"/>
              </a:lnSpc>
              <a:spcBef>
                <a:spcPts val="0"/>
              </a:spcBef>
              <a:buSzTx/>
              <a:buNone/>
              <a:defRPr b="1" sz="5500"/>
            </a:lvl5pPr>
          </a:lstStyle>
          <a:p>
            <a:pPr/>
            <a:r>
              <a:t>Slide Subtitle</a:t>
            </a:r>
          </a:p>
          <a:p>
            <a:pPr lvl="1"/>
            <a:r>
              <a:t/>
            </a:r>
          </a:p>
          <a:p>
            <a:pPr lvl="2"/>
            <a:r>
              <a:t/>
            </a:r>
          </a:p>
          <a:p>
            <a:pPr lvl="3"/>
            <a:r>
              <a:t/>
            </a:r>
          </a:p>
          <a:p>
            <a:pPr lvl="4"/>
            <a:r>
              <a:t/>
            </a:r>
          </a:p>
        </p:txBody>
      </p:sp>
      <p:sp>
        <p:nvSpPr>
          <p:cNvPr id="34" name="Moss-covered rocks"/>
          <p:cNvSpPr/>
          <p:nvPr>
            <p:ph type="pic" sz="half" idx="21"/>
          </p:nvPr>
        </p:nvSpPr>
        <p:spPr>
          <a:xfrm>
            <a:off x="12052303" y="1270000"/>
            <a:ext cx="11188406" cy="11209889"/>
          </a:xfrm>
          <a:prstGeom prst="rect">
            <a:avLst/>
          </a:prstGeom>
        </p:spPr>
        <p:txBody>
          <a:bodyPr lIns="91439" tIns="45719" rIns="91439" bIns="45719">
            <a:noAutofit/>
          </a:bodyPr>
          <a:lstStyle/>
          <a:p>
            <a:pPr/>
          </a:p>
        </p:txBody>
      </p:sp>
      <p:sp>
        <p:nvSpPr>
          <p:cNvPr id="35"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mp; Bullets">
    <p:spTree>
      <p:nvGrpSpPr>
        <p:cNvPr id="1" name=""/>
        <p:cNvGrpSpPr/>
        <p:nvPr/>
      </p:nvGrpSpPr>
      <p:grpSpPr>
        <a:xfrm>
          <a:off x="0" y="0"/>
          <a:ext cx="0" cy="0"/>
          <a:chOff x="0" y="0"/>
          <a:chExt cx="0" cy="0"/>
        </a:xfrm>
      </p:grpSpPr>
      <p:sp>
        <p:nvSpPr>
          <p:cNvPr id="42" name="Slide Title"/>
          <p:cNvSpPr txBox="1"/>
          <p:nvPr>
            <p:ph type="title" hasCustomPrompt="1"/>
          </p:nvPr>
        </p:nvSpPr>
        <p:spPr>
          <a:prstGeom prst="rect">
            <a:avLst/>
          </a:prstGeom>
        </p:spPr>
        <p:txBody>
          <a:bodyPr/>
          <a:lstStyle/>
          <a:p>
            <a:pPr/>
            <a:r>
              <a:t>Slide Title</a:t>
            </a:r>
          </a:p>
        </p:txBody>
      </p:sp>
      <p:sp>
        <p:nvSpPr>
          <p:cNvPr id="43"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44" name="Body Level One…"/>
          <p:cNvSpPr txBox="1"/>
          <p:nvPr>
            <p:ph type="body" idx="1" hasCustomPrompt="1"/>
          </p:nvPr>
        </p:nvSpPr>
        <p:spPr>
          <a:prstGeom prst="rect">
            <a:avLst/>
          </a:prstGeom>
        </p:spPr>
        <p:txBody>
          <a:bodyPr/>
          <a:lstStyle/>
          <a:p>
            <a:pPr/>
            <a:r>
              <a:t>Slide bullet text</a:t>
            </a:r>
          </a:p>
          <a:p>
            <a:pPr lvl="1"/>
            <a:r>
              <a:t/>
            </a:r>
          </a:p>
          <a:p>
            <a:pPr lvl="2"/>
            <a:r>
              <a:t/>
            </a:r>
          </a:p>
          <a:p>
            <a:pPr lvl="3"/>
            <a:r>
              <a:t/>
            </a:r>
          </a:p>
          <a:p>
            <a:pPr lvl="4"/>
            <a:r>
              <a:t/>
            </a:r>
          </a:p>
        </p:txBody>
      </p:sp>
      <p:sp>
        <p:nvSpPr>
          <p:cNvPr id="4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ullets">
    <p:spTree>
      <p:nvGrpSpPr>
        <p:cNvPr id="1" name=""/>
        <p:cNvGrpSpPr/>
        <p:nvPr/>
      </p:nvGrpSpPr>
      <p:grpSpPr>
        <a:xfrm>
          <a:off x="0" y="0"/>
          <a:ext cx="0" cy="0"/>
          <a:chOff x="0" y="0"/>
          <a:chExt cx="0" cy="0"/>
        </a:xfrm>
      </p:grpSpPr>
      <p:sp>
        <p:nvSpPr>
          <p:cNvPr id="52" name="Body Level One…"/>
          <p:cNvSpPr txBox="1"/>
          <p:nvPr>
            <p:ph type="body" idx="1" hasCustomPrompt="1"/>
          </p:nvPr>
        </p:nvSpPr>
        <p:spPr>
          <a:prstGeom prst="rect">
            <a:avLst/>
          </a:prstGeom>
        </p:spPr>
        <p:txBody>
          <a:bodyPr numCol="2" spcCol="1098550"/>
          <a:lstStyle/>
          <a:p>
            <a:pPr/>
            <a:r>
              <a:t>Slide bullet text</a:t>
            </a:r>
          </a:p>
          <a:p>
            <a:pPr lvl="1"/>
            <a:r>
              <a:t/>
            </a:r>
          </a:p>
          <a:p>
            <a:pPr lvl="2"/>
            <a:r>
              <a:t/>
            </a:r>
          </a:p>
          <a:p>
            <a:pPr lvl="3"/>
            <a:r>
              <a:t/>
            </a:r>
          </a:p>
          <a:p>
            <a:pPr lvl="4"/>
            <a:r>
              <a:t/>
            </a:r>
          </a:p>
        </p:txBody>
      </p:sp>
      <p:sp>
        <p:nvSpPr>
          <p:cNvPr id="5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Photo">
    <p:spTree>
      <p:nvGrpSpPr>
        <p:cNvPr id="1" name=""/>
        <p:cNvGrpSpPr/>
        <p:nvPr/>
      </p:nvGrpSpPr>
      <p:grpSpPr>
        <a:xfrm>
          <a:off x="0" y="0"/>
          <a:ext cx="0" cy="0"/>
          <a:chOff x="0" y="0"/>
          <a:chExt cx="0" cy="0"/>
        </a:xfrm>
      </p:grpSpPr>
      <p:sp>
        <p:nvSpPr>
          <p:cNvPr id="60"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61"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62"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63" name="Large rock formation under dark clouds with a dirt road in the foreground"/>
          <p:cNvSpPr/>
          <p:nvPr>
            <p:ph type="pic" idx="22"/>
          </p:nvPr>
        </p:nvSpPr>
        <p:spPr>
          <a:xfrm>
            <a:off x="6380200" y="1263848"/>
            <a:ext cx="22529801" cy="11193471"/>
          </a:xfrm>
          <a:prstGeom prst="rect">
            <a:avLst/>
          </a:prstGeom>
        </p:spPr>
        <p:txBody>
          <a:bodyPr lIns="91439" tIns="45719" rIns="91439" bIns="45719">
            <a:noAutofit/>
          </a:bodyPr>
          <a:lstStyle/>
          <a:p>
            <a:pPr/>
          </a:p>
        </p:txBody>
      </p:sp>
      <p:sp>
        <p:nvSpPr>
          <p:cNvPr id="6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Small">
    <p:spTree>
      <p:nvGrpSpPr>
        <p:cNvPr id="1" name=""/>
        <p:cNvGrpSpPr/>
        <p:nvPr/>
      </p:nvGrpSpPr>
      <p:grpSpPr>
        <a:xfrm>
          <a:off x="0" y="0"/>
          <a:ext cx="0" cy="0"/>
          <a:chOff x="0" y="0"/>
          <a:chExt cx="0" cy="0"/>
        </a:xfrm>
      </p:grpSpPr>
      <p:sp>
        <p:nvSpPr>
          <p:cNvPr id="71"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72"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7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7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Bullets &amp; Live Video Large">
    <p:spTree>
      <p:nvGrpSpPr>
        <p:cNvPr id="1" name=""/>
        <p:cNvGrpSpPr/>
        <p:nvPr/>
      </p:nvGrpSpPr>
      <p:grpSpPr>
        <a:xfrm>
          <a:off x="0" y="0"/>
          <a:ext cx="0" cy="0"/>
          <a:chOff x="0" y="0"/>
          <a:chExt cx="0" cy="0"/>
        </a:xfrm>
      </p:grpSpPr>
      <p:sp>
        <p:nvSpPr>
          <p:cNvPr id="81" name="Slide Title"/>
          <p:cNvSpPr txBox="1"/>
          <p:nvPr>
            <p:ph type="title" hasCustomPrompt="1"/>
          </p:nvPr>
        </p:nvSpPr>
        <p:spPr>
          <a:xfrm>
            <a:off x="1206500" y="952500"/>
            <a:ext cx="9779000" cy="1435100"/>
          </a:xfrm>
          <a:prstGeom prst="rect">
            <a:avLst/>
          </a:prstGeom>
        </p:spPr>
        <p:txBody>
          <a:bodyPr/>
          <a:lstStyle/>
          <a:p>
            <a:pPr/>
            <a:r>
              <a:t>Slide Title</a:t>
            </a:r>
          </a:p>
        </p:txBody>
      </p:sp>
      <p:sp>
        <p:nvSpPr>
          <p:cNvPr id="82" name="Slide Subtitle"/>
          <p:cNvSpPr txBox="1"/>
          <p:nvPr>
            <p:ph type="body" sz="quarter" idx="21" hasCustomPrompt="1"/>
          </p:nvPr>
        </p:nvSpPr>
        <p:spPr>
          <a:xfrm>
            <a:off x="1206500" y="2245962"/>
            <a:ext cx="9779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83" name="Body Level One…"/>
          <p:cNvSpPr txBox="1"/>
          <p:nvPr>
            <p:ph type="body" sz="half" idx="1" hasCustomPrompt="1"/>
          </p:nvPr>
        </p:nvSpPr>
        <p:spPr>
          <a:xfrm>
            <a:off x="1206500" y="4248504"/>
            <a:ext cx="9779000" cy="8256012"/>
          </a:xfrm>
          <a:prstGeom prst="rect">
            <a:avLst/>
          </a:prstGeom>
        </p:spPr>
        <p:txBody>
          <a:bodyPr/>
          <a:lstStyle/>
          <a:p>
            <a:pPr/>
            <a:r>
              <a:t>Slide bullet text</a:t>
            </a:r>
          </a:p>
          <a:p>
            <a:pPr lvl="1"/>
            <a:r>
              <a:t/>
            </a:r>
          </a:p>
          <a:p>
            <a:pPr lvl="2"/>
            <a:r>
              <a:t/>
            </a:r>
          </a:p>
          <a:p>
            <a:pPr lvl="3"/>
            <a:r>
              <a:t/>
            </a:r>
          </a:p>
          <a:p>
            <a:pPr lvl="4"/>
            <a:r>
              <a:t/>
            </a:r>
          </a:p>
        </p:txBody>
      </p:sp>
      <p:sp>
        <p:nvSpPr>
          <p:cNvPr id="84"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p:spTree>
      <p:nvGrpSpPr>
        <p:cNvPr id="1" name=""/>
        <p:cNvGrpSpPr/>
        <p:nvPr/>
      </p:nvGrpSpPr>
      <p:grpSpPr>
        <a:xfrm>
          <a:off x="0" y="0"/>
          <a:ext cx="0" cy="0"/>
          <a:chOff x="0" y="0"/>
          <a:chExt cx="0" cy="0"/>
        </a:xfrm>
      </p:grpSpPr>
      <p:sp>
        <p:nvSpPr>
          <p:cNvPr id="91" name="Section Title"/>
          <p:cNvSpPr txBox="1"/>
          <p:nvPr>
            <p:ph type="title" hasCustomPrompt="1"/>
          </p:nvPr>
        </p:nvSpPr>
        <p:spPr>
          <a:xfrm>
            <a:off x="1206496" y="4533900"/>
            <a:ext cx="21971004" cy="4648200"/>
          </a:xfrm>
          <a:prstGeom prst="rect">
            <a:avLst/>
          </a:prstGeom>
        </p:spPr>
        <p:txBody>
          <a:bodyPr anchor="ctr"/>
          <a:lstStyle>
            <a:lvl1pPr>
              <a:defRPr b="0" spc="-232" sz="11600">
                <a:latin typeface="Helvetica Neue Medium"/>
                <a:ea typeface="Helvetica Neue Medium"/>
                <a:cs typeface="Helvetica Neue Medium"/>
                <a:sym typeface="Helvetica Neue Medium"/>
              </a:defRPr>
            </a:lvl1pPr>
          </a:lstStyle>
          <a:p>
            <a:pPr/>
            <a:r>
              <a:t>Section Title</a:t>
            </a:r>
          </a:p>
        </p:txBody>
      </p:sp>
      <p:sp>
        <p:nvSpPr>
          <p:cNvPr id="92" name="Slide Number"/>
          <p:cNvSpPr txBox="1"/>
          <p:nvPr>
            <p:ph type="sldNum" sz="quarter" idx="2"/>
          </p:nvPr>
        </p:nvSpPr>
        <p:spPr>
          <a:xfrm>
            <a:off x="12001499" y="13085233"/>
            <a:ext cx="368505" cy="374600"/>
          </a:xfrm>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0.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99" name="Slide Title"/>
          <p:cNvSpPr txBox="1"/>
          <p:nvPr>
            <p:ph type="title" hasCustomPrompt="1"/>
          </p:nvPr>
        </p:nvSpPr>
        <p:spPr>
          <a:xfrm>
            <a:off x="1206500" y="952500"/>
            <a:ext cx="21971000" cy="1434949"/>
          </a:xfrm>
          <a:prstGeom prst="rect">
            <a:avLst/>
          </a:prstGeom>
        </p:spPr>
        <p:txBody>
          <a:bodyPr/>
          <a:lstStyle/>
          <a:p>
            <a:pPr/>
            <a:r>
              <a:t>Slide Title</a:t>
            </a:r>
          </a:p>
        </p:txBody>
      </p:sp>
      <p:sp>
        <p:nvSpPr>
          <p:cNvPr id="100" name="Slide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Slide Subtitle</a:t>
            </a:r>
          </a:p>
        </p:txBody>
      </p:sp>
      <p:sp>
        <p:nvSpPr>
          <p:cNvPr id="10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Agenda">
    <p:spTree>
      <p:nvGrpSpPr>
        <p:cNvPr id="1" name=""/>
        <p:cNvGrpSpPr/>
        <p:nvPr/>
      </p:nvGrpSpPr>
      <p:grpSpPr>
        <a:xfrm>
          <a:off x="0" y="0"/>
          <a:ext cx="0" cy="0"/>
          <a:chOff x="0" y="0"/>
          <a:chExt cx="0" cy="0"/>
        </a:xfrm>
      </p:grpSpPr>
      <p:sp>
        <p:nvSpPr>
          <p:cNvPr id="108" name="Agenda Title"/>
          <p:cNvSpPr txBox="1"/>
          <p:nvPr>
            <p:ph type="title" hasCustomPrompt="1"/>
          </p:nvPr>
        </p:nvSpPr>
        <p:spPr>
          <a:xfrm>
            <a:off x="1206500" y="952500"/>
            <a:ext cx="21971000" cy="1435100"/>
          </a:xfrm>
          <a:prstGeom prst="rect">
            <a:avLst/>
          </a:prstGeom>
        </p:spPr>
        <p:txBody>
          <a:bodyPr/>
          <a:lstStyle/>
          <a:p>
            <a:pPr/>
            <a:r>
              <a:t>Agenda Title</a:t>
            </a:r>
          </a:p>
        </p:txBody>
      </p:sp>
      <p:sp>
        <p:nvSpPr>
          <p:cNvPr id="109" name="Agenda Subtitle"/>
          <p:cNvSpPr txBox="1"/>
          <p:nvPr>
            <p:ph type="body" sz="quarter" idx="21" hasCustomPrompt="1"/>
          </p:nvPr>
        </p:nvSpPr>
        <p:spPr>
          <a:xfrm>
            <a:off x="1206500" y="2245962"/>
            <a:ext cx="21971000" cy="934780"/>
          </a:xfrm>
          <a:prstGeom prst="rect">
            <a:avLst/>
          </a:prstGeom>
        </p:spPr>
        <p:txBody>
          <a:bodyPr lIns="45719" tIns="45719" rIns="45719" bIns="45719"/>
          <a:lstStyle>
            <a:lvl1pPr marL="0" indent="0" defTabSz="825500">
              <a:lnSpc>
                <a:spcPct val="100000"/>
              </a:lnSpc>
              <a:spcBef>
                <a:spcPts val="0"/>
              </a:spcBef>
              <a:buSzTx/>
              <a:buNone/>
              <a:defRPr b="1" sz="5500"/>
            </a:lvl1pPr>
          </a:lstStyle>
          <a:p>
            <a:pPr/>
            <a:r>
              <a:t>Agenda Subtitle</a:t>
            </a:r>
          </a:p>
        </p:txBody>
      </p:sp>
      <p:sp>
        <p:nvSpPr>
          <p:cNvPr id="110" name="Body Level One…"/>
          <p:cNvSpPr txBox="1"/>
          <p:nvPr>
            <p:ph type="body" idx="1" hasCustomPrompt="1"/>
          </p:nvPr>
        </p:nvSpPr>
        <p:spPr>
          <a:prstGeom prst="rect">
            <a:avLst/>
          </a:prstGeom>
        </p:spPr>
        <p:txBody>
          <a:bodyPr/>
          <a:lstStyle>
            <a:lvl1pPr marL="0" indent="0" defTabSz="825500">
              <a:lnSpc>
                <a:spcPct val="100000"/>
              </a:lnSpc>
              <a:spcBef>
                <a:spcPts val="1800"/>
              </a:spcBef>
              <a:buSzTx/>
              <a:buNone/>
              <a:defRPr spc="-55" sz="5500"/>
            </a:lvl1pPr>
            <a:lvl2pPr marL="0" indent="457200" defTabSz="825500">
              <a:lnSpc>
                <a:spcPct val="100000"/>
              </a:lnSpc>
              <a:spcBef>
                <a:spcPts val="1800"/>
              </a:spcBef>
              <a:buSzTx/>
              <a:buNone/>
              <a:defRPr spc="-55" sz="5500"/>
            </a:lvl2pPr>
            <a:lvl3pPr marL="0" indent="914400" defTabSz="825500">
              <a:lnSpc>
                <a:spcPct val="100000"/>
              </a:lnSpc>
              <a:spcBef>
                <a:spcPts val="1800"/>
              </a:spcBef>
              <a:buSzTx/>
              <a:buNone/>
              <a:defRPr spc="-55" sz="5500"/>
            </a:lvl3pPr>
            <a:lvl4pPr marL="0" indent="1371600" defTabSz="825500">
              <a:lnSpc>
                <a:spcPct val="100000"/>
              </a:lnSpc>
              <a:spcBef>
                <a:spcPts val="1800"/>
              </a:spcBef>
              <a:buSzTx/>
              <a:buNone/>
              <a:defRPr spc="-55" sz="5500"/>
            </a:lvl4pPr>
            <a:lvl5pPr marL="0" indent="1828800" defTabSz="825500">
              <a:lnSpc>
                <a:spcPct val="100000"/>
              </a:lnSpc>
              <a:spcBef>
                <a:spcPts val="1800"/>
              </a:spcBef>
              <a:buSzTx/>
              <a:buNone/>
              <a:defRPr spc="-55" sz="5500"/>
            </a:lvl5pPr>
          </a:lstStyle>
          <a:p>
            <a:pPr/>
            <a:r>
              <a:t>Agenda Topics</a:t>
            </a:r>
          </a:p>
          <a:p>
            <a:pPr lvl="1"/>
            <a:r>
              <a:t/>
            </a:r>
          </a:p>
          <a:p>
            <a:pPr lvl="2"/>
            <a:r>
              <a:t/>
            </a:r>
          </a:p>
          <a:p>
            <a:pPr lvl="3"/>
            <a:r>
              <a:t/>
            </a:r>
          </a:p>
          <a:p>
            <a:pPr lvl="4"/>
            <a:r>
              <a:t/>
            </a:r>
          </a:p>
        </p:txBody>
      </p:sp>
      <p:sp>
        <p:nvSpPr>
          <p:cNvPr id="1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tatement">
    <p:spTree>
      <p:nvGrpSpPr>
        <p:cNvPr id="1" name=""/>
        <p:cNvGrpSpPr/>
        <p:nvPr/>
      </p:nvGrpSpPr>
      <p:grpSpPr>
        <a:xfrm>
          <a:off x="0" y="0"/>
          <a:ext cx="0" cy="0"/>
          <a:chOff x="0" y="0"/>
          <a:chExt cx="0" cy="0"/>
        </a:xfrm>
      </p:grpSpPr>
      <p:sp>
        <p:nvSpPr>
          <p:cNvPr id="118" name="Body Level One…"/>
          <p:cNvSpPr txBox="1"/>
          <p:nvPr>
            <p:ph type="body" sz="half" idx="1" hasCustomPrompt="1"/>
          </p:nvPr>
        </p:nvSpPr>
        <p:spPr>
          <a:xfrm>
            <a:off x="1206500" y="4920843"/>
            <a:ext cx="21971000" cy="3874314"/>
          </a:xfrm>
          <a:prstGeom prst="rect">
            <a:avLst/>
          </a:prstGeom>
        </p:spPr>
        <p:txBody>
          <a:bodyPr anchor="ctr"/>
          <a:lstStyle>
            <a:lvl1pPr marL="0" indent="0" algn="ctr">
              <a:lnSpc>
                <a:spcPct val="80000"/>
              </a:lnSpc>
              <a:spcBef>
                <a:spcPts val="0"/>
              </a:spcBef>
              <a:buSzTx/>
              <a:buNone/>
              <a:defRPr spc="-232" sz="11600">
                <a:latin typeface="Helvetica Neue Medium"/>
                <a:ea typeface="Helvetica Neue Medium"/>
                <a:cs typeface="Helvetica Neue Medium"/>
                <a:sym typeface="Helvetica Neue Medium"/>
              </a:defRPr>
            </a:lvl1pPr>
            <a:lvl2pPr marL="0" indent="457200" algn="ctr">
              <a:lnSpc>
                <a:spcPct val="80000"/>
              </a:lnSpc>
              <a:spcBef>
                <a:spcPts val="0"/>
              </a:spcBef>
              <a:buSzTx/>
              <a:buNone/>
              <a:defRPr spc="-232" sz="11600">
                <a:latin typeface="Helvetica Neue Medium"/>
                <a:ea typeface="Helvetica Neue Medium"/>
                <a:cs typeface="Helvetica Neue Medium"/>
                <a:sym typeface="Helvetica Neue Medium"/>
              </a:defRPr>
            </a:lvl2pPr>
            <a:lvl3pPr marL="0" indent="914400" algn="ctr">
              <a:lnSpc>
                <a:spcPct val="80000"/>
              </a:lnSpc>
              <a:spcBef>
                <a:spcPts val="0"/>
              </a:spcBef>
              <a:buSzTx/>
              <a:buNone/>
              <a:defRPr spc="-232" sz="11600">
                <a:latin typeface="Helvetica Neue Medium"/>
                <a:ea typeface="Helvetica Neue Medium"/>
                <a:cs typeface="Helvetica Neue Medium"/>
                <a:sym typeface="Helvetica Neue Medium"/>
              </a:defRPr>
            </a:lvl3pPr>
            <a:lvl4pPr marL="0" indent="1371600" algn="ctr">
              <a:lnSpc>
                <a:spcPct val="80000"/>
              </a:lnSpc>
              <a:spcBef>
                <a:spcPts val="0"/>
              </a:spcBef>
              <a:buSzTx/>
              <a:buNone/>
              <a:defRPr spc="-232" sz="11600">
                <a:latin typeface="Helvetica Neue Medium"/>
                <a:ea typeface="Helvetica Neue Medium"/>
                <a:cs typeface="Helvetica Neue Medium"/>
                <a:sym typeface="Helvetica Neue Medium"/>
              </a:defRPr>
            </a:lvl4pPr>
            <a:lvl5pPr marL="0" indent="1828800" algn="ctr">
              <a:lnSpc>
                <a:spcPct val="80000"/>
              </a:lnSpc>
              <a:spcBef>
                <a:spcPts val="0"/>
              </a:spcBef>
              <a:buSzTx/>
              <a:buNone/>
              <a:defRPr spc="-232" sz="11600">
                <a:latin typeface="Helvetica Neue Medium"/>
                <a:ea typeface="Helvetica Neue Medium"/>
                <a:cs typeface="Helvetica Neue Medium"/>
                <a:sym typeface="Helvetica Neue Medium"/>
              </a:defRPr>
            </a:lvl5pPr>
          </a:lstStyle>
          <a:p>
            <a:pPr/>
            <a:r>
              <a:t>Statement</a:t>
            </a:r>
          </a:p>
          <a:p>
            <a:pPr lvl="1"/>
            <a:r>
              <a:t/>
            </a:r>
          </a:p>
          <a:p>
            <a:pPr lvl="2"/>
            <a:r>
              <a:t/>
            </a:r>
          </a:p>
          <a:p>
            <a:pPr lvl="3"/>
            <a:r>
              <a:t/>
            </a:r>
          </a:p>
          <a:p>
            <a:pPr lvl="4"/>
            <a:r>
              <a:t/>
            </a:r>
          </a:p>
        </p:txBody>
      </p:sp>
      <p:sp>
        <p:nvSpPr>
          <p:cNvPr id="119"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ig Fact">
    <p:spTree>
      <p:nvGrpSpPr>
        <p:cNvPr id="1" name=""/>
        <p:cNvGrpSpPr/>
        <p:nvPr/>
      </p:nvGrpSpPr>
      <p:grpSpPr>
        <a:xfrm>
          <a:off x="0" y="0"/>
          <a:ext cx="0" cy="0"/>
          <a:chOff x="0" y="0"/>
          <a:chExt cx="0" cy="0"/>
        </a:xfrm>
      </p:grpSpPr>
      <p:sp>
        <p:nvSpPr>
          <p:cNvPr id="126" name="Fact information"/>
          <p:cNvSpPr txBox="1"/>
          <p:nvPr>
            <p:ph type="body" sz="quarter" idx="21" hasCustomPrompt="1"/>
          </p:nvPr>
        </p:nvSpPr>
        <p:spPr>
          <a:xfrm>
            <a:off x="1206500" y="8262180"/>
            <a:ext cx="21971000" cy="934780"/>
          </a:xfrm>
          <a:prstGeom prst="rect">
            <a:avLst/>
          </a:prstGeom>
        </p:spPr>
        <p:txBody>
          <a:bodyPr lIns="45719" tIns="45719" rIns="45719" bIns="45719"/>
          <a:lstStyle>
            <a:lvl1pPr marL="0" indent="0" algn="ctr" defTabSz="825500">
              <a:lnSpc>
                <a:spcPct val="100000"/>
              </a:lnSpc>
              <a:spcBef>
                <a:spcPts val="0"/>
              </a:spcBef>
              <a:buSzTx/>
              <a:buNone/>
              <a:defRPr b="1" sz="5500"/>
            </a:lvl1pPr>
          </a:lstStyle>
          <a:p>
            <a:pPr/>
            <a:r>
              <a:t>Fact information</a:t>
            </a:r>
          </a:p>
        </p:txBody>
      </p:sp>
      <p:sp>
        <p:nvSpPr>
          <p:cNvPr id="127" name="Body Level One…"/>
          <p:cNvSpPr txBox="1"/>
          <p:nvPr>
            <p:ph type="body" idx="1" hasCustomPrompt="1"/>
          </p:nvPr>
        </p:nvSpPr>
        <p:spPr>
          <a:xfrm>
            <a:off x="1206500" y="935258"/>
            <a:ext cx="21971000" cy="7359063"/>
          </a:xfrm>
          <a:prstGeom prst="rect">
            <a:avLst/>
          </a:prstGeom>
        </p:spPr>
        <p:txBody>
          <a:bodyPr anchor="b"/>
          <a:lstStyle>
            <a:lvl1pPr marL="0" indent="0" algn="ctr">
              <a:lnSpc>
                <a:spcPct val="80000"/>
              </a:lnSpc>
              <a:spcBef>
                <a:spcPts val="0"/>
              </a:spcBef>
              <a:buSzTx/>
              <a:buNone/>
              <a:defRPr b="1" spc="-250" sz="25000"/>
            </a:lvl1pPr>
            <a:lvl2pPr marL="0" indent="457200" algn="ctr">
              <a:lnSpc>
                <a:spcPct val="80000"/>
              </a:lnSpc>
              <a:spcBef>
                <a:spcPts val="0"/>
              </a:spcBef>
              <a:buSzTx/>
              <a:buNone/>
              <a:defRPr b="1" spc="-250" sz="25000"/>
            </a:lvl2pPr>
            <a:lvl3pPr marL="0" indent="914400" algn="ctr">
              <a:lnSpc>
                <a:spcPct val="80000"/>
              </a:lnSpc>
              <a:spcBef>
                <a:spcPts val="0"/>
              </a:spcBef>
              <a:buSzTx/>
              <a:buNone/>
              <a:defRPr b="1" spc="-250" sz="25000"/>
            </a:lvl3pPr>
            <a:lvl4pPr marL="0" indent="1371600" algn="ctr">
              <a:lnSpc>
                <a:spcPct val="80000"/>
              </a:lnSpc>
              <a:spcBef>
                <a:spcPts val="0"/>
              </a:spcBef>
              <a:buSzTx/>
              <a:buNone/>
              <a:defRPr b="1" spc="-250" sz="25000"/>
            </a:lvl4pPr>
            <a:lvl5pPr marL="0" indent="1828800" algn="ctr">
              <a:lnSpc>
                <a:spcPct val="80000"/>
              </a:lnSpc>
              <a:spcBef>
                <a:spcPts val="0"/>
              </a:spcBef>
              <a:buSzTx/>
              <a:buNone/>
              <a:defRPr b="1" spc="-250" sz="25000"/>
            </a:lvl5pPr>
          </a:lstStyle>
          <a:p>
            <a:pPr/>
            <a:r>
              <a:t>100%</a:t>
            </a:r>
          </a:p>
          <a:p>
            <a:pPr lvl="1"/>
            <a:r>
              <a:t/>
            </a:r>
          </a:p>
          <a:p>
            <a:pPr lvl="2"/>
            <a:r>
              <a:t/>
            </a:r>
          </a:p>
          <a:p>
            <a:pPr lvl="3"/>
            <a:r>
              <a:t/>
            </a:r>
          </a:p>
          <a:p>
            <a:pPr lvl="4"/>
            <a:r>
              <a:t/>
            </a:r>
          </a:p>
        </p:txBody>
      </p:sp>
      <p:sp>
        <p:nvSpPr>
          <p:cNvPr id="12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Quote">
    <p:spTree>
      <p:nvGrpSpPr>
        <p:cNvPr id="1" name=""/>
        <p:cNvGrpSpPr/>
        <p:nvPr/>
      </p:nvGrpSpPr>
      <p:grpSpPr>
        <a:xfrm>
          <a:off x="0" y="0"/>
          <a:ext cx="0" cy="0"/>
          <a:chOff x="0" y="0"/>
          <a:chExt cx="0" cy="0"/>
        </a:xfrm>
      </p:grpSpPr>
      <p:sp>
        <p:nvSpPr>
          <p:cNvPr id="135" name="Attribution"/>
          <p:cNvSpPr txBox="1"/>
          <p:nvPr>
            <p:ph type="body" sz="quarter" idx="21" hasCustomPrompt="1"/>
          </p:nvPr>
        </p:nvSpPr>
        <p:spPr>
          <a:xfrm>
            <a:off x="2480825" y="10675453"/>
            <a:ext cx="20149252" cy="636979"/>
          </a:xfrm>
          <a:prstGeom prst="rect">
            <a:avLst/>
          </a:prstGeom>
        </p:spPr>
        <p:txBody>
          <a:bodyPr lIns="45719" tIns="45719" rIns="45719" bIns="45719"/>
          <a:lstStyle>
            <a:lvl1pPr marL="0" indent="0" defTabSz="825500">
              <a:lnSpc>
                <a:spcPct val="100000"/>
              </a:lnSpc>
              <a:spcBef>
                <a:spcPts val="0"/>
              </a:spcBef>
              <a:buSzTx/>
              <a:buNone/>
              <a:defRPr b="1" sz="3600"/>
            </a:lvl1pPr>
          </a:lstStyle>
          <a:p>
            <a:pPr/>
            <a:r>
              <a:t>Attribution</a:t>
            </a:r>
          </a:p>
        </p:txBody>
      </p:sp>
      <p:sp>
        <p:nvSpPr>
          <p:cNvPr id="136" name="Body Level One…"/>
          <p:cNvSpPr txBox="1"/>
          <p:nvPr>
            <p:ph type="body" sz="half" idx="1" hasCustomPrompt="1"/>
          </p:nvPr>
        </p:nvSpPr>
        <p:spPr>
          <a:xfrm>
            <a:off x="1753923" y="4939860"/>
            <a:ext cx="20876154" cy="3836280"/>
          </a:xfrm>
          <a:prstGeom prst="rect">
            <a:avLst/>
          </a:prstGeom>
        </p:spPr>
        <p:txBody>
          <a:bodyPr anchor="ctr"/>
          <a:lstStyle>
            <a:lvl1pPr marL="638923" indent="-469900">
              <a:spcBef>
                <a:spcPts val="0"/>
              </a:spcBef>
              <a:buSzTx/>
              <a:buNone/>
              <a:defRPr spc="-170" sz="8500">
                <a:latin typeface="Helvetica Neue Medium"/>
                <a:ea typeface="Helvetica Neue Medium"/>
                <a:cs typeface="Helvetica Neue Medium"/>
                <a:sym typeface="Helvetica Neue Medium"/>
              </a:defRPr>
            </a:lvl1pPr>
            <a:lvl2pPr marL="638923" indent="-12700">
              <a:spcBef>
                <a:spcPts val="0"/>
              </a:spcBef>
              <a:buSzTx/>
              <a:buNone/>
              <a:defRPr spc="-170" sz="8500">
                <a:latin typeface="Helvetica Neue Medium"/>
                <a:ea typeface="Helvetica Neue Medium"/>
                <a:cs typeface="Helvetica Neue Medium"/>
                <a:sym typeface="Helvetica Neue Medium"/>
              </a:defRPr>
            </a:lvl2pPr>
            <a:lvl3pPr marL="638923" indent="444500">
              <a:spcBef>
                <a:spcPts val="0"/>
              </a:spcBef>
              <a:buSzTx/>
              <a:buNone/>
              <a:defRPr spc="-170" sz="8500">
                <a:latin typeface="Helvetica Neue Medium"/>
                <a:ea typeface="Helvetica Neue Medium"/>
                <a:cs typeface="Helvetica Neue Medium"/>
                <a:sym typeface="Helvetica Neue Medium"/>
              </a:defRPr>
            </a:lvl3pPr>
            <a:lvl4pPr marL="638923" indent="901700">
              <a:spcBef>
                <a:spcPts val="0"/>
              </a:spcBef>
              <a:buSzTx/>
              <a:buNone/>
              <a:defRPr spc="-170" sz="8500">
                <a:latin typeface="Helvetica Neue Medium"/>
                <a:ea typeface="Helvetica Neue Medium"/>
                <a:cs typeface="Helvetica Neue Medium"/>
                <a:sym typeface="Helvetica Neue Medium"/>
              </a:defRPr>
            </a:lvl4pPr>
            <a:lvl5pPr marL="638923" indent="1358900">
              <a:spcBef>
                <a:spcPts val="0"/>
              </a:spcBef>
              <a:buSzTx/>
              <a:buNone/>
              <a:defRPr spc="-170" sz="8500">
                <a:latin typeface="Helvetica Neue Medium"/>
                <a:ea typeface="Helvetica Neue Medium"/>
                <a:cs typeface="Helvetica Neue Medium"/>
                <a:sym typeface="Helvetica Neue Medium"/>
              </a:defRPr>
            </a:lvl5pPr>
          </a:lstStyle>
          <a:p>
            <a:pPr/>
            <a:r>
              <a:t>“Notable Quote”</a:t>
            </a:r>
          </a:p>
          <a:p>
            <a:pPr lvl="1"/>
            <a:r>
              <a:t/>
            </a:r>
          </a:p>
          <a:p>
            <a:pPr lvl="2"/>
            <a:r>
              <a:t/>
            </a:r>
          </a:p>
          <a:p>
            <a:pPr lvl="3"/>
            <a:r>
              <a:t/>
            </a:r>
          </a:p>
          <a:p>
            <a:pPr lvl="4"/>
            <a:r>
              <a:t/>
            </a:r>
          </a:p>
        </p:txBody>
      </p:sp>
      <p:sp>
        <p:nvSpPr>
          <p:cNvPr id="13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 3 Up">
    <p:spTree>
      <p:nvGrpSpPr>
        <p:cNvPr id="1" name=""/>
        <p:cNvGrpSpPr/>
        <p:nvPr/>
      </p:nvGrpSpPr>
      <p:grpSpPr>
        <a:xfrm>
          <a:off x="0" y="0"/>
          <a:ext cx="0" cy="0"/>
          <a:chOff x="0" y="0"/>
          <a:chExt cx="0" cy="0"/>
        </a:xfrm>
      </p:grpSpPr>
      <p:sp>
        <p:nvSpPr>
          <p:cNvPr id="144" name="Close-up of wild plants growing between rocks"/>
          <p:cNvSpPr/>
          <p:nvPr>
            <p:ph type="pic" sz="quarter" idx="21"/>
          </p:nvPr>
        </p:nvSpPr>
        <p:spPr>
          <a:xfrm>
            <a:off x="15430500" y="7085409"/>
            <a:ext cx="8128000" cy="5410201"/>
          </a:xfrm>
          <a:prstGeom prst="rect">
            <a:avLst/>
          </a:prstGeom>
        </p:spPr>
        <p:txBody>
          <a:bodyPr lIns="91439" tIns="45719" rIns="91439" bIns="45719">
            <a:noAutofit/>
          </a:bodyPr>
          <a:lstStyle/>
          <a:p>
            <a:pPr/>
          </a:p>
        </p:txBody>
      </p:sp>
      <p:sp>
        <p:nvSpPr>
          <p:cNvPr id="145" name="Large rock formation under dark clouds with a dirt road in the foreground"/>
          <p:cNvSpPr/>
          <p:nvPr>
            <p:ph type="pic" idx="22"/>
          </p:nvPr>
        </p:nvSpPr>
        <p:spPr>
          <a:xfrm>
            <a:off x="-2933700" y="1270000"/>
            <a:ext cx="22699133" cy="11277600"/>
          </a:xfrm>
          <a:prstGeom prst="rect">
            <a:avLst/>
          </a:prstGeom>
        </p:spPr>
        <p:txBody>
          <a:bodyPr lIns="91439" tIns="45719" rIns="91439" bIns="45719">
            <a:noAutofit/>
          </a:bodyPr>
          <a:lstStyle/>
          <a:p>
            <a:pPr/>
          </a:p>
        </p:txBody>
      </p:sp>
      <p:sp>
        <p:nvSpPr>
          <p:cNvPr id="146" name="Close-up of a wild plant growing between lava rocks"/>
          <p:cNvSpPr/>
          <p:nvPr>
            <p:ph type="pic" sz="quarter" idx="23"/>
          </p:nvPr>
        </p:nvSpPr>
        <p:spPr>
          <a:xfrm>
            <a:off x="15430500" y="1270000"/>
            <a:ext cx="8128000" cy="5410200"/>
          </a:xfrm>
          <a:prstGeom prst="rect">
            <a:avLst/>
          </a:prstGeom>
        </p:spPr>
        <p:txBody>
          <a:bodyPr lIns="91439" tIns="45719" rIns="91439" bIns="45719">
            <a:noAutofit/>
          </a:bodyPr>
          <a:lstStyle/>
          <a:p>
            <a:pPr/>
          </a:p>
        </p:txBody>
      </p:sp>
      <p:sp>
        <p:nvSpPr>
          <p:cNvPr id="147"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hoto">
    <p:spTree>
      <p:nvGrpSpPr>
        <p:cNvPr id="1" name=""/>
        <p:cNvGrpSpPr/>
        <p:nvPr/>
      </p:nvGrpSpPr>
      <p:grpSpPr>
        <a:xfrm>
          <a:off x="0" y="0"/>
          <a:ext cx="0" cy="0"/>
          <a:chOff x="0" y="0"/>
          <a:chExt cx="0" cy="0"/>
        </a:xfrm>
      </p:grpSpPr>
      <p:sp>
        <p:nvSpPr>
          <p:cNvPr id="154" name="waterfall surrounded by a green rocky landscape"/>
          <p:cNvSpPr/>
          <p:nvPr>
            <p:ph type="pic" idx="21"/>
          </p:nvPr>
        </p:nvSpPr>
        <p:spPr>
          <a:xfrm>
            <a:off x="-1511300" y="-3721100"/>
            <a:ext cx="28511500" cy="19030242"/>
          </a:xfrm>
          <a:prstGeom prst="rect">
            <a:avLst/>
          </a:prstGeom>
        </p:spPr>
        <p:txBody>
          <a:bodyPr lIns="91439" tIns="45719" rIns="91439" bIns="45719">
            <a:noAutofit/>
          </a:bodyPr>
          <a:lstStyle/>
          <a:p>
            <a:pPr/>
          </a:p>
        </p:txBody>
      </p:sp>
      <p:sp>
        <p:nvSpPr>
          <p:cNvPr id="15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1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16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Relationship Id="rId14" Type="http://schemas.openxmlformats.org/officeDocument/2006/relationships/slideLayout" Target="../slideLayouts/slideLayout13.xml"/><Relationship Id="rId15" Type="http://schemas.openxmlformats.org/officeDocument/2006/relationships/slideLayout" Target="../slideLayouts/slideLayout14.xml"/><Relationship Id="rId16" Type="http://schemas.openxmlformats.org/officeDocument/2006/relationships/slideLayout" Target="../slideLayouts/slideLayout15.xml"/><Relationship Id="rId17" Type="http://schemas.openxmlformats.org/officeDocument/2006/relationships/slideLayout" Target="../slideLayouts/slideLayout16.xml"/><Relationship Id="rId1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000000"/>
        </a:solidFill>
      </p:bgPr>
    </p:bg>
    <p:spTree>
      <p:nvGrpSpPr>
        <p:cNvPr id="1" name=""/>
        <p:cNvGrpSpPr/>
        <p:nvPr/>
      </p:nvGrpSpPr>
      <p:grpSpPr>
        <a:xfrm>
          <a:off x="0" y="0"/>
          <a:ext cx="0" cy="0"/>
          <a:chOff x="0" y="0"/>
          <a:chExt cx="0" cy="0"/>
        </a:xfrm>
      </p:grpSpPr>
      <p:sp>
        <p:nvSpPr>
          <p:cNvPr id="2" name="Slide Title"/>
          <p:cNvSpPr txBox="1"/>
          <p:nvPr>
            <p:ph type="title" hasCustomPrompt="1"/>
          </p:nvPr>
        </p:nvSpPr>
        <p:spPr>
          <a:xfrm>
            <a:off x="1206500" y="952500"/>
            <a:ext cx="21971000" cy="143316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Title</a:t>
            </a:r>
          </a:p>
        </p:txBody>
      </p:sp>
      <p:sp>
        <p:nvSpPr>
          <p:cNvPr id="3" name="Body Level One…"/>
          <p:cNvSpPr txBox="1"/>
          <p:nvPr>
            <p:ph type="body" idx="1" hasCustomPrompt="1"/>
          </p:nvPr>
        </p:nvSpPr>
        <p:spPr>
          <a:xfrm>
            <a:off x="1206500" y="4248504"/>
            <a:ext cx="21971000" cy="8256012"/>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ormAutofit fontScale="100000" lnSpcReduction="0"/>
          </a:bodyPr>
          <a:lstStyle/>
          <a:p>
            <a:pPr/>
            <a:r>
              <a:t>Slide bullet text</a:t>
            </a:r>
          </a:p>
          <a:p>
            <a:pPr lvl="1"/>
            <a:r>
              <a:t/>
            </a:r>
          </a:p>
          <a:p>
            <a:pPr lvl="2"/>
            <a:r>
              <a:t/>
            </a:r>
          </a:p>
          <a:p>
            <a:pPr lvl="3"/>
            <a:r>
              <a:t/>
            </a:r>
          </a:p>
          <a:p>
            <a:pPr lvl="4"/>
            <a:r>
              <a:t/>
            </a:r>
          </a:p>
        </p:txBody>
      </p:sp>
      <p:sp>
        <p:nvSpPr>
          <p:cNvPr id="4" name="Slide Number"/>
          <p:cNvSpPr txBox="1"/>
          <p:nvPr>
            <p:ph type="sldNum" sz="quarter" idx="2"/>
          </p:nvPr>
        </p:nvSpPr>
        <p:spPr>
          <a:xfrm>
            <a:off x="12001499" y="13080999"/>
            <a:ext cx="368505" cy="374600"/>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1800"/>
            </a:lvl1pPr>
          </a:lstStyle>
          <a:p>
            <a:pPr/>
            <a:fld id="{86CB4B4D-7CA3-9044-876B-883B54F8677D}" type="slidenum"/>
          </a:p>
        </p:txBody>
      </p:sp>
    </p:spTree>
  </p:cSld>
  <p:clrMap bg1="dk1" tx1="lt1" bg2="dk2" tx2="lt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Lst>
  <p:transition xmlns:p14="http://schemas.microsoft.com/office/powerpoint/2010/main" spd="med" advClick="1"/>
  <p:txStyles>
    <p:titleStyle>
      <a:lvl1pPr marL="0" marR="0" indent="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1pPr>
      <a:lvl2pPr marL="0" marR="0" indent="4572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2pPr>
      <a:lvl3pPr marL="0" marR="0" indent="9144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3pPr>
      <a:lvl4pPr marL="0" marR="0" indent="13716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4pPr>
      <a:lvl5pPr marL="0" marR="0" indent="18288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5pPr>
      <a:lvl6pPr marL="0" marR="0" indent="22860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6pPr>
      <a:lvl7pPr marL="0" marR="0" indent="27432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7pPr>
      <a:lvl8pPr marL="0" marR="0" indent="32004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8pPr>
      <a:lvl9pPr marL="0" marR="0" indent="3657600" algn="l" defTabSz="2438338" rtl="0" latinLnBrk="0">
        <a:lnSpc>
          <a:spcPct val="80000"/>
        </a:lnSpc>
        <a:spcBef>
          <a:spcPts val="0"/>
        </a:spcBef>
        <a:spcAft>
          <a:spcPts val="0"/>
        </a:spcAft>
        <a:buClrTx/>
        <a:buSzTx/>
        <a:buFontTx/>
        <a:buNone/>
        <a:tabLst/>
        <a:defRPr b="1" baseline="0" cap="none" i="0" spc="-170" strike="noStrike" sz="8500" u="none">
          <a:solidFill>
            <a:srgbClr val="FFFFFF"/>
          </a:solidFill>
          <a:uFillTx/>
          <a:latin typeface="+mn-lt"/>
          <a:ea typeface="+mn-ea"/>
          <a:cs typeface="+mn-cs"/>
          <a:sym typeface="Helvetica Neue"/>
        </a:defRPr>
      </a:lvl9pPr>
    </p:titleStyle>
    <p:bodyStyle>
      <a:lvl1pPr marL="609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1pPr>
      <a:lvl2pPr marL="1219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2pPr>
      <a:lvl3pPr marL="1828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3pPr>
      <a:lvl4pPr marL="2438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4pPr>
      <a:lvl5pPr marL="30480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5pPr>
      <a:lvl6pPr marL="36576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6pPr>
      <a:lvl7pPr marL="42672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7pPr>
      <a:lvl8pPr marL="48768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8pPr>
      <a:lvl9pPr marL="5486400" marR="0" indent="-609600" algn="l" defTabSz="2438338" rtl="0" latinLnBrk="0">
        <a:lnSpc>
          <a:spcPct val="90000"/>
        </a:lnSpc>
        <a:spcBef>
          <a:spcPts val="4500"/>
        </a:spcBef>
        <a:spcAft>
          <a:spcPts val="0"/>
        </a:spcAft>
        <a:buClrTx/>
        <a:buSzPct val="123000"/>
        <a:buFontTx/>
        <a:buChar char="•"/>
        <a:tabLst/>
        <a:defRPr b="0" baseline="0" cap="none" i="0" spc="0" strike="noStrike" sz="4800" u="none">
          <a:solidFill>
            <a:srgbClr val="FFFFFF"/>
          </a:solidFill>
          <a:uFillTx/>
          <a:latin typeface="+mn-lt"/>
          <a:ea typeface="+mn-ea"/>
          <a:cs typeface="+mn-cs"/>
          <a:sym typeface="Helvetica Neue"/>
        </a:defRPr>
      </a:lvl9pPr>
    </p:bodyStyle>
    <p:otherStyle>
      <a:lvl1pPr marL="0" marR="0" indent="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1pPr>
      <a:lvl2pPr marL="0" marR="0" indent="457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2pPr>
      <a:lvl3pPr marL="0" marR="0" indent="914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3pPr>
      <a:lvl4pPr marL="0" marR="0" indent="1371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4pPr>
      <a:lvl5pPr marL="0" marR="0" indent="18288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5pPr>
      <a:lvl6pPr marL="0" marR="0" indent="22860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6pPr>
      <a:lvl7pPr marL="0" marR="0" indent="27432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7pPr>
      <a:lvl8pPr marL="0" marR="0" indent="32004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8pPr>
      <a:lvl9pPr marL="0" marR="0" indent="3657600" algn="ctr" defTabSz="584200" rtl="0" latinLnBrk="0">
        <a:lnSpc>
          <a:spcPct val="100000"/>
        </a:lnSpc>
        <a:spcBef>
          <a:spcPts val="0"/>
        </a:spcBef>
        <a:spcAft>
          <a:spcPts val="0"/>
        </a:spcAft>
        <a:buClrTx/>
        <a:buSzTx/>
        <a:buFontTx/>
        <a:buNone/>
        <a:tabLst/>
        <a:defRPr b="0" baseline="0" cap="none" i="0" spc="0" strike="noStrike" sz="1800" u="none">
          <a:solidFill>
            <a:schemeClr val="tx1"/>
          </a:solidFill>
          <a:uFillTx/>
          <a:latin typeface="+mn-lt"/>
          <a:ea typeface="+mn-ea"/>
          <a:cs typeface="+mn-cs"/>
          <a:sym typeface="Helvetica Neue"/>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3.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 Id="rId3" Type="http://schemas.openxmlformats.org/officeDocument/2006/relationships/hyperlink" Target="https://datafusion.apache.org/blog/2024/11/18/datafusion-fastest-single-node-parquet-clickbench/" TargetMode="External"/><Relationship Id="rId4" Type="http://schemas.openxmlformats.org/officeDocument/2006/relationships/image" Target="../media/image5.png"/><Relationship Id="rId5" Type="http://schemas.openxmlformats.org/officeDocument/2006/relationships/image" Target="../media/image6.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hyperlink" Target="https://cedardb.com/blog/german_strings/" TargetMode="External"/></Relationships>

</file>

<file path=ppt/slides/_rels/slide1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hyperlink" Target="https://cedardb.com/blog/german_strings/" TargetMode="External"/></Relationships>

</file>

<file path=ppt/slides/_rels/slide1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hyperlink" Target="https://cedardb.com/blog/german_strings/" TargetMode="External"/><Relationship Id="rId4" Type="http://schemas.openxmlformats.org/officeDocument/2006/relationships/image" Target="../media/image12.png"/><Relationship Id="rId5" Type="http://schemas.openxmlformats.org/officeDocument/2006/relationships/image" Target="../media/image13.png"/></Relationships>

</file>

<file path=ppt/slides/_rels/slide15.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hyperlink" Target="https://drive.google.com/file/d/1Qqd8V6cfS9rSQ_-JrinasQJwI79qlUEV/view" TargetMode="External"/><Relationship Id="rId4" Type="http://schemas.openxmlformats.org/officeDocument/2006/relationships/image" Target="../media/image14.png"/></Relationships>

</file>

<file path=ppt/slides/_rels/slide16.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15.png"/></Relationships>

</file>

<file path=ppt/slides/_rels/slide1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6.png"/></Relationships>

</file>

<file path=ppt/slides/_rels/slide19.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0.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17.png"/></Relationships>

</file>

<file path=ppt/slides/_rels/slide21.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18.png"/></Relationships>

</file>

<file path=ppt/slides/_rels/slide22.xml.rels><?xml version="1.0" encoding="UTF-8"?>
<Relationships xmlns="http://schemas.openxmlformats.org/package/2006/relationships"><Relationship Id="rId1" Type="http://schemas.openxmlformats.org/officeDocument/2006/relationships/slideLayout" Target="../slideLayouts/slideLayout4.xml"/></Relationships>

</file>

<file path=ppt/slides/_rels/slide23.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hyperlink" Target="https://datafusion.apache.org/blog/2025/01/17/datafusion-comet-0.5.0/" TargetMode="External"/><Relationship Id="rId4" Type="http://schemas.openxmlformats.org/officeDocument/2006/relationships/chart" Target="../charts/chart1.xml"/></Relationships>

</file>

<file path=ppt/slides/_rels/slide24.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hyperlink" Target="https://github.com/apache/datafusion-comet/issues/1373" TargetMode="External"/><Relationship Id="rId3" Type="http://schemas.openxmlformats.org/officeDocument/2006/relationships/hyperlink" Target="https://github.com/apache/datafusion-comet/issues/1043" TargetMode="External"/></Relationships>

</file>

<file path=ppt/slides/_rels/slide25.xml.rels><?xml version="1.0" encoding="UTF-8"?>
<Relationships xmlns="http://schemas.openxmlformats.org/package/2006/relationships"><Relationship Id="rId1" Type="http://schemas.openxmlformats.org/officeDocument/2006/relationships/slideLayout" Target="../slideLayouts/slideLayout9.xml"/></Relationships>

</file>

<file path=ppt/slides/_rels/slide26.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hyperlink" Target="https://github.com/apache/datafusion" TargetMode="External"/><Relationship Id="rId4" Type="http://schemas.openxmlformats.org/officeDocument/2006/relationships/hyperlink" Target="https://github.com/apache/datafusion-comet" TargetMode="External"/><Relationship Id="rId5" Type="http://schemas.openxmlformats.org/officeDocument/2006/relationships/hyperlink" Target="https://github.com/apache/arrow-rs" TargetMode="External"/><Relationship Id="rId6" Type="http://schemas.openxmlformats.org/officeDocument/2006/relationships/hyperlink" Target="https://docs.google.com/document/d/1NBpkIAuU7O9h8Br5CbFksDhX-L9TyO9wmGLPMe0Plc8/edit?tab=t.0#heading=h.kpjkpncdmt1g" TargetMode="External"/><Relationship Id="rId7" Type="http://schemas.openxmlformats.org/officeDocument/2006/relationships/hyperlink" Target="https://infra.apache.org/slack.html" TargetMode="External"/></Relationships>

</file>

<file path=ppt/slides/_rels/slide27.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hyperlink" Target="https://15445.courses.cs.cmu.edu/fall2024/" TargetMode="External"/><Relationship Id="rId4" Type="http://schemas.openxmlformats.org/officeDocument/2006/relationships/hyperlink" Target="https://15721.courses.cs.cmu.edu/spring2024/" TargetMode="External"/><Relationship Id="rId5" Type="http://schemas.openxmlformats.org/officeDocument/2006/relationships/hyperlink" Target="https://15799.courses.cs.cmu.edu/spring2025/" TargetMode="External"/><Relationship Id="rId6" Type="http://schemas.openxmlformats.org/officeDocument/2006/relationships/hyperlink" Target="https://www.youtube.com/@CMUDatabaseGroup" TargetMode="External"/><Relationship Id="rId7" Type="http://schemas.openxmlformats.org/officeDocument/2006/relationships/image" Target="../media/image1.jpeg"/></Relationships>

</file>

<file path=ppt/slides/_rels/slide28.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hyperlink" Target="https://discord.gg/243d8pfGB9" TargetMode="External"/><Relationship Id="rId4" Type="http://schemas.openxmlformats.org/officeDocument/2006/relationships/hyperlink" Target="https://discord.gg/geUyQt6DXJ" TargetMode="External"/><Relationship Id="rId5" Type="http://schemas.openxmlformats.org/officeDocument/2006/relationships/hyperlink" Target="https://discord.gg/W6gvyDy8wP" TargetMode="External"/></Relationships>

</file>

<file path=ppt/slides/_rels/slide29.xml.rels><?xml version="1.0" encoding="UTF-8"?>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hyperlink" Target="https://mattbutrovi.ch" TargetMode="External"/></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71" name="Matthew Butrovich | February 18, 2025"/>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Matthew Butrovich | February 18, 2025</a:t>
            </a:r>
          </a:p>
        </p:txBody>
      </p:sp>
      <p:sp>
        <p:nvSpPr>
          <p:cNvPr id="172" name="Putting Theory Into Practice"/>
          <p:cNvSpPr txBox="1"/>
          <p:nvPr>
            <p:ph type="ctrTitle"/>
          </p:nvPr>
        </p:nvSpPr>
        <p:spPr>
          <a:prstGeom prst="rect">
            <a:avLst/>
          </a:prstGeom>
        </p:spPr>
        <p:txBody>
          <a:bodyPr/>
          <a:lstStyle/>
          <a:p>
            <a:pPr/>
            <a:r>
              <a:t>Putting Theory Into Practice</a:t>
            </a:r>
          </a:p>
        </p:txBody>
      </p:sp>
      <p:sp>
        <p:nvSpPr>
          <p:cNvPr id="173" name="Apache DataFusion &amp; Apache DataFusion Comet"/>
          <p:cNvSpPr txBox="1"/>
          <p:nvPr>
            <p:ph type="subTitle" sz="quarter" idx="1"/>
          </p:nvPr>
        </p:nvSpPr>
        <p:spPr>
          <a:prstGeom prst="rect">
            <a:avLst/>
          </a:prstGeom>
        </p:spPr>
        <p:txBody>
          <a:bodyPr/>
          <a:lstStyle/>
          <a:p>
            <a:pPr/>
            <a:r>
              <a:t>Apache DataFusion &amp; Apache DataFusion Comet</a:t>
            </a:r>
          </a:p>
        </p:txBody>
      </p:sp>
      <p:sp>
        <p:nvSpPr>
          <p:cNvPr id="174" name="This talk was prepared by Matt Butrovich in his personal capacity. The opinions expressed in this talk are the author's own and do not reflect the views of The Apache Software Foundation, Carnegie Mellon University, or Apple Inc."/>
          <p:cNvSpPr txBox="1"/>
          <p:nvPr/>
        </p:nvSpPr>
        <p:spPr>
          <a:xfrm>
            <a:off x="11675376" y="11594531"/>
            <a:ext cx="11603828" cy="1126013"/>
          </a:xfrm>
          <a:prstGeom prst="rect">
            <a:avLst/>
          </a:prstGeom>
          <a:ln w="12700">
            <a:miter lim="400000"/>
          </a:ln>
          <a:extLst>
            <a:ext uri="{C572A759-6A51-4108-AA02-DFA0A04FC94B}">
              <ma14:wrappingTextBoxFlag xmlns:ma14="http://schemas.microsoft.com/office/mac/drawingml/2011/main" val="1"/>
            </a:ext>
          </a:extLst>
        </p:spPr>
        <p:txBody>
          <a:bodyPr lIns="50800" tIns="50800" rIns="50800" bIns="50800" anchor="ctr">
            <a:spAutoFit/>
          </a:bodyPr>
          <a:lstStyle/>
          <a:p>
            <a:pPr algn="r">
              <a:defRPr sz="2400">
                <a:solidFill>
                  <a:srgbClr val="A9A9A9"/>
                </a:solidFill>
              </a:defRPr>
            </a:pPr>
            <a:r>
              <a:t>This talk was prepared by Matt Butrovich in his personal capacity. The opinions expressed in this talk are the author's own and do not reflect the views of</a:t>
            </a:r>
            <a:br/>
            <a:r>
              <a:t>The Apache Software Foundation, Carnegie Mellon University, or Apple Inc.</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0" showMasterSp="1" showMasterPhAnim="1">
  <p:cSld>
    <p:spTree>
      <p:nvGrpSpPr>
        <p:cNvPr id="1" name=""/>
        <p:cNvGrpSpPr/>
        <p:nvPr/>
      </p:nvGrpSpPr>
      <p:grpSpPr>
        <a:xfrm>
          <a:off x="0" y="0"/>
          <a:ext cx="0" cy="0"/>
          <a:chOff x="0" y="0"/>
          <a:chExt cx="0" cy="0"/>
        </a:xfrm>
      </p:grpSpPr>
      <p:sp>
        <p:nvSpPr>
          <p:cNvPr id="178" name="Academic and open-source communities push the state-of-the-art in database management systems (DBMSs), and present accessible ways to learn about and contribute to DBMS internals."/>
          <p:cNvSpPr txBox="1"/>
          <p:nvPr>
            <p:ph type="body" sz="half" idx="1"/>
          </p:nvPr>
        </p:nvSpPr>
        <p:spPr>
          <a:prstGeom prst="rect">
            <a:avLst/>
          </a:prstGeom>
        </p:spPr>
        <p:txBody>
          <a:bodyPr/>
          <a:lstStyle/>
          <a:p>
            <a:pPr defTabSz="1487386">
              <a:defRPr spc="-141" sz="7076"/>
            </a:pPr>
            <a:r>
              <a:t>Academic and open-source communities</a:t>
            </a:r>
            <a:br/>
            <a:r>
              <a:t>push the state-of-the-art in database management systems (DBMSs), and present accessible ways to learn about and contribute to DBMS internals.</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82" name="About Me"/>
          <p:cNvSpPr txBox="1"/>
          <p:nvPr>
            <p:ph type="title"/>
          </p:nvPr>
        </p:nvSpPr>
        <p:spPr>
          <a:prstGeom prst="rect">
            <a:avLst/>
          </a:prstGeom>
        </p:spPr>
        <p:txBody>
          <a:bodyPr/>
          <a:lstStyle/>
          <a:p>
            <a:pPr/>
            <a:r>
              <a:t>About Me</a:t>
            </a:r>
          </a:p>
        </p:txBody>
      </p:sp>
      <p:sp>
        <p:nvSpPr>
          <p:cNvPr id="183" name="https://mattbutrovi.ch"/>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https://mattbutrovi.ch</a:t>
            </a:r>
          </a:p>
        </p:txBody>
      </p:sp>
      <p:sp>
        <p:nvSpPr>
          <p:cNvPr id="184" name=""/>
          <p:cNvSpPr txBox="1"/>
          <p:nvPr/>
        </p:nvSpPr>
        <p:spPr>
          <a:xfrm>
            <a:off x="16971207" y="4354470"/>
            <a:ext cx="4990339" cy="7307480"/>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defRPr sz="48600"/>
            </a:lvl1pPr>
          </a:lstStyle>
          <a:p>
            <a:pPr/>
            <a:r>
              <a:t></a:t>
            </a:r>
          </a:p>
        </p:txBody>
      </p:sp>
      <p:pic>
        <p:nvPicPr>
          <p:cNvPr id="185" name="cmu-wordmark-stacked-w.png" descr="cmu-wordmark-stacked-w.png"/>
          <p:cNvPicPr>
            <a:picLocks noChangeAspect="1"/>
          </p:cNvPicPr>
          <p:nvPr/>
        </p:nvPicPr>
        <p:blipFill>
          <a:blip r:embed="rId3">
            <a:extLst/>
          </a:blip>
          <a:stretch>
            <a:fillRect/>
          </a:stretch>
        </p:blipFill>
        <p:spPr>
          <a:xfrm>
            <a:off x="8455728" y="5753959"/>
            <a:ext cx="7472544" cy="4762501"/>
          </a:xfrm>
          <a:prstGeom prst="rect">
            <a:avLst/>
          </a:prstGeom>
          <a:ln w="12700">
            <a:miter lim="400000"/>
          </a:ln>
        </p:spPr>
      </p:pic>
      <p:pic>
        <p:nvPicPr>
          <p:cNvPr id="186" name="database.png" descr="database.png"/>
          <p:cNvPicPr>
            <a:picLocks noChangeAspect="1"/>
          </p:cNvPicPr>
          <p:nvPr/>
        </p:nvPicPr>
        <p:blipFill>
          <a:blip r:embed="rId4">
            <a:extLst/>
          </a:blip>
          <a:stretch>
            <a:fillRect/>
          </a:stretch>
        </p:blipFill>
        <p:spPr>
          <a:xfrm>
            <a:off x="2322879" y="5626959"/>
            <a:ext cx="4167189" cy="4762501"/>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18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18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18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185" grpId="2"/>
      <p:bldP build="whole" bldLvl="1" animBg="1" rev="0" advAuto="0" spid="184" grpId="3"/>
      <p:bldP build="whole" bldLvl="1" animBg="1" rev="0" advAuto="0" spid="186" grpId="1"/>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0" name="Apache DataFusion"/>
          <p:cNvSpPr txBox="1"/>
          <p:nvPr>
            <p:ph type="title"/>
          </p:nvPr>
        </p:nvSpPr>
        <p:spPr>
          <a:prstGeom prst="rect">
            <a:avLst/>
          </a:prstGeom>
        </p:spPr>
        <p:txBody>
          <a:bodyPr/>
          <a:lstStyle/>
          <a:p>
            <a:pPr/>
            <a:r>
              <a:t>Apache DataFusion</a:t>
            </a:r>
          </a:p>
        </p:txBody>
      </p:sp>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94" name="Embedded Analytic Query Engine"/>
          <p:cNvSpPr txBox="1"/>
          <p:nvPr>
            <p:ph type="title"/>
          </p:nvPr>
        </p:nvSpPr>
        <p:spPr>
          <a:prstGeom prst="rect">
            <a:avLst/>
          </a:prstGeom>
        </p:spPr>
        <p:txBody>
          <a:bodyPr/>
          <a:lstStyle/>
          <a:p>
            <a:pPr/>
            <a:r>
              <a:t>Embedded Analytic Query Engine</a:t>
            </a:r>
          </a:p>
        </p:txBody>
      </p:sp>
      <p:sp>
        <p:nvSpPr>
          <p:cNvPr id="195" name="Apache DataFus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a:t>
            </a:r>
          </a:p>
        </p:txBody>
      </p:sp>
      <p:grpSp>
        <p:nvGrpSpPr>
          <p:cNvPr id="200" name="Group"/>
          <p:cNvGrpSpPr/>
          <p:nvPr/>
        </p:nvGrpSpPr>
        <p:grpSpPr>
          <a:xfrm>
            <a:off x="1202600" y="5951984"/>
            <a:ext cx="6024254" cy="3994706"/>
            <a:chOff x="0" y="0"/>
            <a:chExt cx="6024253" cy="3994705"/>
          </a:xfrm>
        </p:grpSpPr>
        <p:sp>
          <p:nvSpPr>
            <p:cNvPr id="196" name="User Queries  (SQL, DataFrames, …)"/>
            <p:cNvSpPr/>
            <p:nvPr/>
          </p:nvSpPr>
          <p:spPr>
            <a:xfrm>
              <a:off x="0" y="0"/>
              <a:ext cx="4570182" cy="1524000"/>
            </a:xfrm>
            <a:prstGeom prst="roundRect">
              <a:avLst>
                <a:gd name="adj" fmla="val 12500"/>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r>
                <a:rPr b="1">
                  <a:latin typeface="+mn-lt"/>
                  <a:ea typeface="+mn-ea"/>
                  <a:cs typeface="+mn-cs"/>
                  <a:sym typeface="Helvetica Neue"/>
                </a:rPr>
                <a:t>User Queries</a:t>
              </a:r>
              <a:r>
                <a:t> </a:t>
              </a:r>
              <a:br/>
              <a:r>
                <a:t>(SQL, DataFrames, …)</a:t>
              </a:r>
            </a:p>
          </p:txBody>
        </p:sp>
        <p:sp>
          <p:nvSpPr>
            <p:cNvPr id="197" name="User Data  (Parquet, CSV, …)"/>
            <p:cNvSpPr/>
            <p:nvPr/>
          </p:nvSpPr>
          <p:spPr>
            <a:xfrm>
              <a:off x="0" y="2470705"/>
              <a:ext cx="4570182" cy="1524001"/>
            </a:xfrm>
            <a:prstGeom prst="roundRect">
              <a:avLst>
                <a:gd name="adj" fmla="val 12500"/>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r>
                <a:rPr b="1">
                  <a:latin typeface="+mn-lt"/>
                  <a:ea typeface="+mn-ea"/>
                  <a:cs typeface="+mn-cs"/>
                  <a:sym typeface="Helvetica Neue"/>
                </a:rPr>
                <a:t>User Data</a:t>
              </a:r>
              <a:r>
                <a:t> </a:t>
              </a:r>
              <a:br/>
              <a:r>
                <a:t>(Parquet, CSV, …)</a:t>
              </a:r>
            </a:p>
          </p:txBody>
        </p:sp>
        <p:sp>
          <p:nvSpPr>
            <p:cNvPr id="198" name="Arrow"/>
            <p:cNvSpPr/>
            <p:nvPr/>
          </p:nvSpPr>
          <p:spPr>
            <a:xfrm>
              <a:off x="4754253" y="127000"/>
              <a:ext cx="1270001" cy="1270000"/>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sp>
          <p:nvSpPr>
            <p:cNvPr id="199" name="Arrow"/>
            <p:cNvSpPr/>
            <p:nvPr/>
          </p:nvSpPr>
          <p:spPr>
            <a:xfrm>
              <a:off x="4754253" y="2597705"/>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grpSp>
      <p:grpSp>
        <p:nvGrpSpPr>
          <p:cNvPr id="204" name="Group"/>
          <p:cNvGrpSpPr/>
          <p:nvPr/>
        </p:nvGrpSpPr>
        <p:grpSpPr>
          <a:xfrm>
            <a:off x="7372534" y="5956300"/>
            <a:ext cx="5332268" cy="3987800"/>
            <a:chOff x="0" y="0"/>
            <a:chExt cx="5332267" cy="3987800"/>
          </a:xfrm>
        </p:grpSpPr>
        <p:sp>
          <p:nvSpPr>
            <p:cNvPr id="201" name="Rounded Rectangle"/>
            <p:cNvSpPr/>
            <p:nvPr/>
          </p:nvSpPr>
          <p:spPr>
            <a:xfrm>
              <a:off x="0" y="0"/>
              <a:ext cx="3743143" cy="3987800"/>
            </a:xfrm>
            <a:prstGeom prst="roundRect">
              <a:avLst>
                <a:gd name="adj" fmla="val 13571"/>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pic>
          <p:nvPicPr>
            <p:cNvPr id="202" name="2x_bgwhite_original.png" descr="2x_bgwhite_original.png"/>
            <p:cNvPicPr>
              <a:picLocks noChangeAspect="1"/>
            </p:cNvPicPr>
            <p:nvPr/>
          </p:nvPicPr>
          <p:blipFill>
            <a:blip r:embed="rId2">
              <a:extLst/>
            </a:blip>
            <a:stretch>
              <a:fillRect/>
            </a:stretch>
          </p:blipFill>
          <p:spPr>
            <a:xfrm>
              <a:off x="291968" y="1640391"/>
              <a:ext cx="3159207" cy="662606"/>
            </a:xfrm>
            <a:prstGeom prst="rect">
              <a:avLst/>
            </a:prstGeom>
            <a:ln w="12700" cap="flat">
              <a:noFill/>
              <a:miter lim="400000"/>
            </a:ln>
            <a:effectLst/>
          </p:spPr>
        </p:pic>
        <p:sp>
          <p:nvSpPr>
            <p:cNvPr id="203" name="Arrow"/>
            <p:cNvSpPr/>
            <p:nvPr/>
          </p:nvSpPr>
          <p:spPr>
            <a:xfrm>
              <a:off x="4062267" y="1336694"/>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grpSp>
      <p:grpSp>
        <p:nvGrpSpPr>
          <p:cNvPr id="207" name="Group"/>
          <p:cNvGrpSpPr/>
          <p:nvPr/>
        </p:nvGrpSpPr>
        <p:grpSpPr>
          <a:xfrm>
            <a:off x="12850482" y="7187337"/>
            <a:ext cx="5985863" cy="1524001"/>
            <a:chOff x="0" y="0"/>
            <a:chExt cx="5985862" cy="1524000"/>
          </a:xfrm>
        </p:grpSpPr>
        <p:sp>
          <p:nvSpPr>
            <p:cNvPr id="205" name="Query Results…"/>
            <p:cNvSpPr/>
            <p:nvPr/>
          </p:nvSpPr>
          <p:spPr>
            <a:xfrm>
              <a:off x="0" y="0"/>
              <a:ext cx="4570182" cy="1524000"/>
            </a:xfrm>
            <a:prstGeom prst="roundRect">
              <a:avLst>
                <a:gd name="adj" fmla="val 12500"/>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r>
                <a:rPr b="1">
                  <a:latin typeface="+mn-lt"/>
                  <a:ea typeface="+mn-ea"/>
                  <a:cs typeface="+mn-cs"/>
                  <a:sym typeface="Helvetica Neue"/>
                </a:rPr>
                <a:t>Query Results</a:t>
              </a:r>
              <a:endParaRPr b="1">
                <a:latin typeface="+mn-lt"/>
                <a:ea typeface="+mn-ea"/>
                <a:cs typeface="+mn-cs"/>
                <a:sym typeface="Helvetica Neue"/>
              </a:endParaRPr>
            </a:p>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r>
                <a:t>(Apache Arrow)</a:t>
              </a:r>
            </a:p>
          </p:txBody>
        </p:sp>
        <p:sp>
          <p:nvSpPr>
            <p:cNvPr id="206" name="Arrow"/>
            <p:cNvSpPr/>
            <p:nvPr/>
          </p:nvSpPr>
          <p:spPr>
            <a:xfrm>
              <a:off x="4715862" y="127000"/>
              <a:ext cx="1270001" cy="1270000"/>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grpSp>
      <p:sp>
        <p:nvSpPr>
          <p:cNvPr id="208" name="My Super Cool Application"/>
          <p:cNvSpPr/>
          <p:nvPr/>
        </p:nvSpPr>
        <p:spPr>
          <a:xfrm>
            <a:off x="18982025" y="5955437"/>
            <a:ext cx="3746501" cy="3987801"/>
          </a:xfrm>
          <a:prstGeom prst="roundRect">
            <a:avLst>
              <a:gd name="adj" fmla="val 13559"/>
            </a:avLst>
          </a:prstGeom>
          <a:solidFill>
            <a:srgbClr val="FFFFFF"/>
          </a:solidFill>
          <a:ln w="12700">
            <a:miter lim="400000"/>
          </a:ln>
          <a:extLst>
            <a:ext uri="{C572A759-6A51-4108-AA02-DFA0A04FC94B}">
              <ma14:wrappingTextBoxFlag xmlns:ma14="http://schemas.microsoft.com/office/mac/drawingml/2011/main" val="1"/>
            </a:ext>
          </a:extLst>
        </p:spPr>
        <p:txBody>
          <a:bodyPr lIns="50800" tIns="50800" rIns="50800" bIns="50800" anchor="ctr"/>
          <a:lstStyle>
            <a:lvl1pPr algn="ctr" defTabSz="825500">
              <a:lnSpc>
                <a:spcPct val="100000"/>
              </a:lnSpc>
              <a:spcBef>
                <a:spcPts val="0"/>
              </a:spcBef>
              <a:defRPr b="1" sz="3200">
                <a:solidFill>
                  <a:srgbClr val="000000"/>
                </a:solidFill>
              </a:defRPr>
            </a:lvl1pPr>
          </a:lstStyle>
          <a:p>
            <a:pPr/>
            <a:r>
              <a:t>My Super Cool Application</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0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20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20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4" fill="hold">
                                  <p:stCondLst>
                                    <p:cond delay="0"/>
                                  </p:stCondLst>
                                  <p:iterate type="el" backwards="0">
                                    <p:tmAbs val="0"/>
                                  </p:iterate>
                                  <p:childTnLst>
                                    <p:set>
                                      <p:cBhvr>
                                        <p:cTn id="18" fill="hold"/>
                                        <p:tgtEl>
                                          <p:spTgt spid="20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04" grpId="2"/>
      <p:bldP build="whole" bldLvl="1" animBg="1" rev="0" advAuto="0" spid="200" grpId="1"/>
      <p:bldP build="whole" bldLvl="1" animBg="1" rev="0" advAuto="0" spid="207" grpId="3"/>
      <p:bldP build="whole" bldLvl="1" animBg="1" rev="0" advAuto="0" spid="208" grpId="4"/>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10" name="Embedded Analytic Query Engine"/>
          <p:cNvSpPr txBox="1"/>
          <p:nvPr>
            <p:ph type="title"/>
          </p:nvPr>
        </p:nvSpPr>
        <p:spPr>
          <a:prstGeom prst="rect">
            <a:avLst/>
          </a:prstGeom>
        </p:spPr>
        <p:txBody>
          <a:bodyPr/>
          <a:lstStyle/>
          <a:p>
            <a:pPr/>
            <a:r>
              <a:t>Embedded Analytic Query Engine</a:t>
            </a:r>
          </a:p>
        </p:txBody>
      </p:sp>
      <p:sp>
        <p:nvSpPr>
          <p:cNvPr id="211" name="Apache DataFus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a:t>
            </a:r>
          </a:p>
        </p:txBody>
      </p:sp>
      <p:sp>
        <p:nvSpPr>
          <p:cNvPr id="212" name="Query Results…"/>
          <p:cNvSpPr/>
          <p:nvPr/>
        </p:nvSpPr>
        <p:spPr>
          <a:xfrm>
            <a:off x="19093894" y="7112000"/>
            <a:ext cx="4570183" cy="1524000"/>
          </a:xfrm>
          <a:prstGeom prst="roundRect">
            <a:avLst>
              <a:gd name="adj" fmla="val 12500"/>
            </a:avLst>
          </a:prstGeom>
          <a:solidFill>
            <a:srgbClr val="FFFFFF"/>
          </a:solidFill>
          <a:ln w="12700">
            <a:miter lim="400000"/>
          </a:ln>
          <a:extLst>
            <a:ext uri="{C572A759-6A51-4108-AA02-DFA0A04FC94B}">
              <ma14:wrappingTextBoxFlag xmlns:ma14="http://schemas.microsoft.com/office/mac/drawingml/2011/main" val="1"/>
            </a:ext>
          </a:extLst>
        </p:spPr>
        <p:txBody>
          <a:bodyPr lIns="50800" tIns="50800" rIns="50800" bIns="50800" anchor="ct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r>
              <a:rPr b="1">
                <a:latin typeface="+mn-lt"/>
                <a:ea typeface="+mn-ea"/>
                <a:cs typeface="+mn-cs"/>
                <a:sym typeface="Helvetica Neue"/>
              </a:rPr>
              <a:t>Query Results</a:t>
            </a:r>
            <a:endParaRPr b="1">
              <a:latin typeface="+mn-lt"/>
              <a:ea typeface="+mn-ea"/>
              <a:cs typeface="+mn-cs"/>
              <a:sym typeface="Helvetica Neue"/>
            </a:endParaRPr>
          </a:p>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r>
              <a:t>(Apache Arrow)</a:t>
            </a:r>
          </a:p>
        </p:txBody>
      </p:sp>
      <p:grpSp>
        <p:nvGrpSpPr>
          <p:cNvPr id="217" name="Group"/>
          <p:cNvGrpSpPr/>
          <p:nvPr/>
        </p:nvGrpSpPr>
        <p:grpSpPr>
          <a:xfrm>
            <a:off x="1202600" y="5951984"/>
            <a:ext cx="6024254" cy="3994706"/>
            <a:chOff x="0" y="0"/>
            <a:chExt cx="6024253" cy="3994705"/>
          </a:xfrm>
        </p:grpSpPr>
        <p:sp>
          <p:nvSpPr>
            <p:cNvPr id="213" name="User Queries  (SQL, DataFrames, …)"/>
            <p:cNvSpPr/>
            <p:nvPr/>
          </p:nvSpPr>
          <p:spPr>
            <a:xfrm>
              <a:off x="0" y="0"/>
              <a:ext cx="4570182" cy="1524000"/>
            </a:xfrm>
            <a:prstGeom prst="roundRect">
              <a:avLst>
                <a:gd name="adj" fmla="val 12500"/>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r>
                <a:rPr b="1">
                  <a:latin typeface="+mn-lt"/>
                  <a:ea typeface="+mn-ea"/>
                  <a:cs typeface="+mn-cs"/>
                  <a:sym typeface="Helvetica Neue"/>
                </a:rPr>
                <a:t>User Queries</a:t>
              </a:r>
              <a:r>
                <a:t> </a:t>
              </a:r>
              <a:br/>
              <a:r>
                <a:t>(SQL, DataFrames, …)</a:t>
              </a:r>
            </a:p>
          </p:txBody>
        </p:sp>
        <p:sp>
          <p:nvSpPr>
            <p:cNvPr id="214" name="User Data  (Parquet, CSV, …)"/>
            <p:cNvSpPr/>
            <p:nvPr/>
          </p:nvSpPr>
          <p:spPr>
            <a:xfrm>
              <a:off x="0" y="2470705"/>
              <a:ext cx="4570182" cy="1524001"/>
            </a:xfrm>
            <a:prstGeom prst="roundRect">
              <a:avLst>
                <a:gd name="adj" fmla="val 12500"/>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r>
                <a:rPr b="1">
                  <a:latin typeface="+mn-lt"/>
                  <a:ea typeface="+mn-ea"/>
                  <a:cs typeface="+mn-cs"/>
                  <a:sym typeface="Helvetica Neue"/>
                </a:rPr>
                <a:t>User Data</a:t>
              </a:r>
              <a:r>
                <a:t> </a:t>
              </a:r>
              <a:br/>
              <a:r>
                <a:t>(Parquet, CSV, …)</a:t>
              </a:r>
            </a:p>
          </p:txBody>
        </p:sp>
        <p:sp>
          <p:nvSpPr>
            <p:cNvPr id="215" name="Arrow"/>
            <p:cNvSpPr/>
            <p:nvPr/>
          </p:nvSpPr>
          <p:spPr>
            <a:xfrm>
              <a:off x="4754253" y="127000"/>
              <a:ext cx="1270001" cy="1270000"/>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sp>
          <p:nvSpPr>
            <p:cNvPr id="216" name="Arrow"/>
            <p:cNvSpPr/>
            <p:nvPr/>
          </p:nvSpPr>
          <p:spPr>
            <a:xfrm>
              <a:off x="4754253" y="2597705"/>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grpSp>
      <p:grpSp>
        <p:nvGrpSpPr>
          <p:cNvPr id="229" name="Group"/>
          <p:cNvGrpSpPr/>
          <p:nvPr/>
        </p:nvGrpSpPr>
        <p:grpSpPr>
          <a:xfrm>
            <a:off x="7372534" y="5016500"/>
            <a:ext cx="11575682" cy="5715000"/>
            <a:chOff x="0" y="0"/>
            <a:chExt cx="11575681" cy="5715000"/>
          </a:xfrm>
        </p:grpSpPr>
        <p:sp>
          <p:nvSpPr>
            <p:cNvPr id="218" name="Rounded Rectangle"/>
            <p:cNvSpPr/>
            <p:nvPr/>
          </p:nvSpPr>
          <p:spPr>
            <a:xfrm>
              <a:off x="0" y="0"/>
              <a:ext cx="10160000" cy="5715000"/>
            </a:xfrm>
            <a:prstGeom prst="roundRect">
              <a:avLst>
                <a:gd name="adj" fmla="val 8889"/>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pic>
          <p:nvPicPr>
            <p:cNvPr id="219" name="2x_bgwhite_original.png" descr="2x_bgwhite_original.png"/>
            <p:cNvPicPr>
              <a:picLocks noChangeAspect="1"/>
            </p:cNvPicPr>
            <p:nvPr/>
          </p:nvPicPr>
          <p:blipFill>
            <a:blip r:embed="rId3">
              <a:extLst/>
            </a:blip>
            <a:stretch>
              <a:fillRect/>
            </a:stretch>
          </p:blipFill>
          <p:spPr>
            <a:xfrm>
              <a:off x="1138704" y="101079"/>
              <a:ext cx="7882591" cy="1653279"/>
            </a:xfrm>
            <a:prstGeom prst="rect">
              <a:avLst/>
            </a:prstGeom>
            <a:ln w="12700" cap="flat">
              <a:noFill/>
              <a:miter lim="400000"/>
            </a:ln>
            <a:effectLst/>
          </p:spPr>
        </p:pic>
        <p:sp>
          <p:nvSpPr>
            <p:cNvPr id="220" name="SQL Parser"/>
            <p:cNvSpPr/>
            <p:nvPr/>
          </p:nvSpPr>
          <p:spPr>
            <a:xfrm>
              <a:off x="245661" y="2334180"/>
              <a:ext cx="4572001" cy="762001"/>
            </a:xfrm>
            <a:prstGeom prst="rect">
              <a:avLst/>
            </a:prstGeom>
            <a:solidFill>
              <a:srgbClr val="FFFFFF"/>
            </a:solidFill>
            <a:ln w="635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SQL Parser</a:t>
              </a:r>
            </a:p>
          </p:txBody>
        </p:sp>
        <p:sp>
          <p:nvSpPr>
            <p:cNvPr id="221" name="Logical Optimizer"/>
            <p:cNvSpPr/>
            <p:nvPr/>
          </p:nvSpPr>
          <p:spPr>
            <a:xfrm>
              <a:off x="245661" y="3479152"/>
              <a:ext cx="4572001" cy="762001"/>
            </a:xfrm>
            <a:prstGeom prst="rect">
              <a:avLst/>
            </a:prstGeom>
            <a:solidFill>
              <a:srgbClr val="FFFFFF"/>
            </a:solidFill>
            <a:ln w="635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Logical Optimizer</a:t>
              </a:r>
            </a:p>
          </p:txBody>
        </p:sp>
        <p:sp>
          <p:nvSpPr>
            <p:cNvPr id="222" name="Physical Optimizer"/>
            <p:cNvSpPr/>
            <p:nvPr/>
          </p:nvSpPr>
          <p:spPr>
            <a:xfrm>
              <a:off x="245661" y="4617775"/>
              <a:ext cx="4572001" cy="762001"/>
            </a:xfrm>
            <a:prstGeom prst="rect">
              <a:avLst/>
            </a:prstGeom>
            <a:solidFill>
              <a:srgbClr val="FFFFFF"/>
            </a:solidFill>
            <a:ln w="635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Physical Optimizer</a:t>
              </a:r>
            </a:p>
          </p:txBody>
        </p:sp>
        <p:sp>
          <p:nvSpPr>
            <p:cNvPr id="223" name="Async I/O"/>
            <p:cNvSpPr/>
            <p:nvPr/>
          </p:nvSpPr>
          <p:spPr>
            <a:xfrm>
              <a:off x="5310742" y="2340530"/>
              <a:ext cx="4572001" cy="762001"/>
            </a:xfrm>
            <a:prstGeom prst="rect">
              <a:avLst/>
            </a:prstGeom>
            <a:solidFill>
              <a:srgbClr val="FFFFFF"/>
            </a:solidFill>
            <a:ln w="635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Async I/O</a:t>
              </a:r>
            </a:p>
          </p:txBody>
        </p:sp>
        <p:sp>
          <p:nvSpPr>
            <p:cNvPr id="224" name="Vectorized Operators"/>
            <p:cNvSpPr/>
            <p:nvPr/>
          </p:nvSpPr>
          <p:spPr>
            <a:xfrm>
              <a:off x="5310742" y="3485502"/>
              <a:ext cx="4572001" cy="762001"/>
            </a:xfrm>
            <a:prstGeom prst="rect">
              <a:avLst/>
            </a:prstGeom>
            <a:solidFill>
              <a:srgbClr val="FFFFFF"/>
            </a:solidFill>
            <a:ln w="635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Vectorized Operators</a:t>
              </a:r>
            </a:p>
          </p:txBody>
        </p:sp>
        <p:sp>
          <p:nvSpPr>
            <p:cNvPr id="225" name="In-process Execution"/>
            <p:cNvSpPr/>
            <p:nvPr/>
          </p:nvSpPr>
          <p:spPr>
            <a:xfrm>
              <a:off x="5310742" y="4617775"/>
              <a:ext cx="4572001" cy="762001"/>
            </a:xfrm>
            <a:prstGeom prst="rect">
              <a:avLst/>
            </a:prstGeom>
            <a:solidFill>
              <a:srgbClr val="FFFFFF"/>
            </a:solidFill>
            <a:ln w="635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In-process Execution</a:t>
              </a:r>
            </a:p>
          </p:txBody>
        </p:sp>
        <p:sp>
          <p:nvSpPr>
            <p:cNvPr id="226" name="Arrow"/>
            <p:cNvSpPr/>
            <p:nvPr/>
          </p:nvSpPr>
          <p:spPr>
            <a:xfrm>
              <a:off x="10305681" y="2222500"/>
              <a:ext cx="1270001" cy="1270000"/>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sp>
          <p:nvSpPr>
            <p:cNvPr id="227" name="Front-end"/>
            <p:cNvSpPr txBox="1"/>
            <p:nvPr/>
          </p:nvSpPr>
          <p:spPr>
            <a:xfrm>
              <a:off x="1802579" y="1861423"/>
              <a:ext cx="1458165" cy="4613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400">
                  <a:solidFill>
                    <a:srgbClr val="000000"/>
                  </a:solidFill>
                </a:defRPr>
              </a:lvl1pPr>
            </a:lstStyle>
            <a:p>
              <a:pPr/>
              <a:r>
                <a:t>Front-end</a:t>
              </a:r>
            </a:p>
          </p:txBody>
        </p:sp>
        <p:sp>
          <p:nvSpPr>
            <p:cNvPr id="228" name="Query processing"/>
            <p:cNvSpPr txBox="1"/>
            <p:nvPr/>
          </p:nvSpPr>
          <p:spPr>
            <a:xfrm>
              <a:off x="6339899" y="1861423"/>
              <a:ext cx="2513687" cy="461367"/>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lvl1pPr>
                <a:defRPr sz="2400">
                  <a:solidFill>
                    <a:srgbClr val="000000"/>
                  </a:solidFill>
                </a:defRPr>
              </a:lvl1pPr>
            </a:lstStyle>
            <a:p>
              <a:pPr/>
              <a:r>
                <a:t>Query processing</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22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21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17" grpId="1"/>
      <p:bldP build="whole" bldLvl="1" animBg="1" rev="0" advAuto="0" spid="229" grpId="2"/>
      <p:bldP build="whole" bldLvl="1" animBg="1" rev="0" advAuto="0" spid="212" grpId="3"/>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33" name="History"/>
          <p:cNvSpPr txBox="1"/>
          <p:nvPr>
            <p:ph type="title"/>
          </p:nvPr>
        </p:nvSpPr>
        <p:spPr>
          <a:prstGeom prst="rect">
            <a:avLst/>
          </a:prstGeom>
        </p:spPr>
        <p:txBody>
          <a:bodyPr/>
          <a:lstStyle/>
          <a:p>
            <a:pPr/>
            <a:r>
              <a:t>History</a:t>
            </a:r>
          </a:p>
        </p:txBody>
      </p:sp>
      <p:sp>
        <p:nvSpPr>
          <p:cNvPr id="234" name="Apache DataFus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a:t>
            </a:r>
          </a:p>
        </p:txBody>
      </p:sp>
      <p:sp>
        <p:nvSpPr>
          <p:cNvPr id="235" name="Began as open-source…"/>
          <p:cNvSpPr txBox="1"/>
          <p:nvPr>
            <p:ph type="body" idx="1"/>
          </p:nvPr>
        </p:nvSpPr>
        <p:spPr>
          <a:prstGeom prst="rect">
            <a:avLst/>
          </a:prstGeom>
        </p:spPr>
        <p:txBody>
          <a:bodyPr/>
          <a:lstStyle/>
          <a:p>
            <a:pPr/>
            <a:r>
              <a:t>Began as open-source</a:t>
            </a:r>
          </a:p>
          <a:p>
            <a:pPr lvl="1"/>
            <a:r>
              <a:t>Created by Andy Grove</a:t>
            </a:r>
          </a:p>
          <a:p>
            <a:pPr/>
            <a:r>
              <a:t>Donated as an Apache Arrow subproject,</a:t>
            </a:r>
            <a:br/>
            <a:r>
              <a:t>now a top-level ASF project</a:t>
            </a:r>
          </a:p>
          <a:p>
            <a:pPr/>
            <a:r>
              <a:t>GitHub repository:</a:t>
            </a:r>
          </a:p>
          <a:p>
            <a:pPr lvl="1"/>
            <a:r>
              <a:t>729 contributors</a:t>
            </a:r>
          </a:p>
          <a:p>
            <a:pPr lvl="1"/>
            <a:r>
              <a:t>Almost 10,000 commits</a:t>
            </a:r>
          </a:p>
        </p:txBody>
      </p:sp>
      <p:pic>
        <p:nvPicPr>
          <p:cNvPr id="236" name="SIGMOD-2024-lamb-3.png" descr="SIGMOD-2024-lamb-3.png"/>
          <p:cNvPicPr>
            <a:picLocks noChangeAspect="1"/>
          </p:cNvPicPr>
          <p:nvPr/>
        </p:nvPicPr>
        <p:blipFill>
          <a:blip r:embed="rId3">
            <a:extLst/>
          </a:blip>
          <a:stretch>
            <a:fillRect/>
          </a:stretch>
        </p:blipFill>
        <p:spPr>
          <a:xfrm>
            <a:off x="14325600" y="2540000"/>
            <a:ext cx="8243455" cy="1066800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35">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235">
                                            <p:txEl>
                                              <p:pRg st="0" end="0"/>
                                            </p:txEl>
                                          </p:spTgt>
                                        </p:tgtEl>
                                        <p:attrNameLst>
                                          <p:attrName>style.visibility</p:attrName>
                                        </p:attrNameLst>
                                      </p:cBhvr>
                                      <p:to>
                                        <p:strVal val="visible"/>
                                      </p:to>
                                    </p:set>
                                  </p:childTnLst>
                                </p:cTn>
                              </p:par>
                              <p:par>
                                <p:cTn id="9" presetClass="entr" nodeType="withEffect" presetSubtype="0" presetID="1" grpId="1" fill="hold">
                                  <p:stCondLst>
                                    <p:cond delay="0"/>
                                  </p:stCondLst>
                                  <p:iterate type="el" backwards="0">
                                    <p:tmAbs val="0"/>
                                  </p:iterate>
                                  <p:childTnLst>
                                    <p:set>
                                      <p:cBhvr>
                                        <p:cTn id="10" fill="hold"/>
                                        <p:tgtEl>
                                          <p:spTgt spid="23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1" fill="hold">
                                  <p:stCondLst>
                                    <p:cond delay="0"/>
                                  </p:stCondLst>
                                  <p:iterate type="el" backwards="0">
                                    <p:tmAbs val="0"/>
                                  </p:iterate>
                                  <p:childTnLst>
                                    <p:set>
                                      <p:cBhvr>
                                        <p:cTn id="14" fill="hold"/>
                                        <p:tgtEl>
                                          <p:spTgt spid="23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1" fill="hold">
                                  <p:stCondLst>
                                    <p:cond delay="0"/>
                                  </p:stCondLst>
                                  <p:iterate type="el" backwards="0">
                                    <p:tmAbs val="0"/>
                                  </p:iterate>
                                  <p:childTnLst>
                                    <p:set>
                                      <p:cBhvr>
                                        <p:cTn id="18" fill="hold"/>
                                        <p:tgtEl>
                                          <p:spTgt spid="235">
                                            <p:txEl>
                                              <p:pRg st="3" end="3"/>
                                            </p:txEl>
                                          </p:spTgt>
                                        </p:tgtEl>
                                        <p:attrNameLst>
                                          <p:attrName>style.visibility</p:attrName>
                                        </p:attrNameLst>
                                      </p:cBhvr>
                                      <p:to>
                                        <p:strVal val="visible"/>
                                      </p:to>
                                    </p:set>
                                  </p:childTnLst>
                                </p:cTn>
                              </p:par>
                              <p:par>
                                <p:cTn id="19" presetClass="entr" nodeType="withEffect" presetSubtype="0" presetID="1" grpId="1" fill="hold">
                                  <p:stCondLst>
                                    <p:cond delay="0"/>
                                  </p:stCondLst>
                                  <p:iterate type="el" backwards="0">
                                    <p:tmAbs val="0"/>
                                  </p:iterate>
                                  <p:childTnLst>
                                    <p:set>
                                      <p:cBhvr>
                                        <p:cTn id="20" fill="hold"/>
                                        <p:tgtEl>
                                          <p:spTgt spid="235">
                                            <p:txEl>
                                              <p:pRg st="4" end="4"/>
                                            </p:txEl>
                                          </p:spTgt>
                                        </p:tgtEl>
                                        <p:attrNameLst>
                                          <p:attrName>style.visibility</p:attrName>
                                        </p:attrNameLst>
                                      </p:cBhvr>
                                      <p:to>
                                        <p:strVal val="visible"/>
                                      </p:to>
                                    </p:set>
                                  </p:childTnLst>
                                </p:cTn>
                              </p:par>
                              <p:par>
                                <p:cTn id="21" presetClass="entr" nodeType="withEffect" presetSubtype="0" presetID="1" grpId="1" fill="hold">
                                  <p:stCondLst>
                                    <p:cond delay="0"/>
                                  </p:stCondLst>
                                  <p:iterate type="el" backwards="0">
                                    <p:tmAbs val="0"/>
                                  </p:iterate>
                                  <p:childTnLst>
                                    <p:set>
                                      <p:cBhvr>
                                        <p:cTn id="22" fill="hold"/>
                                        <p:tgtEl>
                                          <p:spTgt spid="23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0" presetID="1" grpId="2" fill="hold">
                                  <p:stCondLst>
                                    <p:cond delay="0"/>
                                  </p:stCondLst>
                                  <p:iterate type="el" backwards="0">
                                    <p:tmAbs val="0"/>
                                  </p:iterate>
                                  <p:childTnLst>
                                    <p:set>
                                      <p:cBhvr>
                                        <p:cTn id="26" fill="hold"/>
                                        <p:tgtEl>
                                          <p:spTgt spid="23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36" grpId="2"/>
      <p:bldP build="p" bldLvl="1" animBg="1" rev="0" advAuto="0" spid="235" grpId="1"/>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0" name="Applications"/>
          <p:cNvSpPr txBox="1"/>
          <p:nvPr>
            <p:ph type="title"/>
          </p:nvPr>
        </p:nvSpPr>
        <p:spPr>
          <a:prstGeom prst="rect">
            <a:avLst/>
          </a:prstGeom>
        </p:spPr>
        <p:txBody>
          <a:bodyPr/>
          <a:lstStyle/>
          <a:p>
            <a:pPr/>
            <a:r>
              <a:t>Applications</a:t>
            </a:r>
          </a:p>
        </p:txBody>
      </p:sp>
      <p:sp>
        <p:nvSpPr>
          <p:cNvPr id="241" name="Apache DataFus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a:t>
            </a:r>
          </a:p>
        </p:txBody>
      </p:sp>
      <p:sp>
        <p:nvSpPr>
          <p:cNvPr id="242" name="Query engine for building new DBMSs…"/>
          <p:cNvSpPr txBox="1"/>
          <p:nvPr>
            <p:ph type="body" idx="1"/>
          </p:nvPr>
        </p:nvSpPr>
        <p:spPr>
          <a:prstGeom prst="rect">
            <a:avLst/>
          </a:prstGeom>
        </p:spPr>
        <p:txBody>
          <a:bodyPr/>
          <a:lstStyle/>
          <a:p>
            <a:pPr/>
            <a:r>
              <a:t>Query engine for building new DBMSs</a:t>
            </a:r>
          </a:p>
          <a:p>
            <a:pPr lvl="1"/>
            <a:r>
              <a:t>InfluxDB, ParadeDB, GreptimeDB, …</a:t>
            </a:r>
          </a:p>
          <a:p>
            <a:pPr/>
            <a:r>
              <a:t>Query accelerator for existing DBMSs</a:t>
            </a:r>
          </a:p>
          <a:p>
            <a:pPr lvl="1"/>
            <a:r>
              <a:t>DataFusion Comet, Blaze, …</a:t>
            </a:r>
          </a:p>
          <a:p>
            <a:pPr/>
            <a:r>
              <a:t>Scriptable CLI for batch data lake jobs</a:t>
            </a:r>
          </a:p>
          <a:p>
            <a:pPr lvl="1"/>
            <a:r>
              <a:t>Data formats: Parquet, Vortex, LanceDB, Iceberg, Delta</a:t>
            </a:r>
          </a:p>
          <a:p>
            <a:pPr/>
            <a:r>
              <a:t>Python bindings for Jupyter notebooks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42">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242">
                                            <p:txEl>
                                              <p:pRg st="0" end="0"/>
                                            </p:txEl>
                                          </p:spTgt>
                                        </p:tgtEl>
                                        <p:attrNameLst>
                                          <p:attrName>style.visibility</p:attrName>
                                        </p:attrNameLst>
                                      </p:cBhvr>
                                      <p:to>
                                        <p:strVal val="visible"/>
                                      </p:to>
                                    </p:set>
                                  </p:childTnLst>
                                </p:cTn>
                              </p:par>
                              <p:par>
                                <p:cTn id="9" presetClass="entr" nodeType="withEffect" presetSubtype="0" presetID="1" grpId="1" fill="hold">
                                  <p:stCondLst>
                                    <p:cond delay="0"/>
                                  </p:stCondLst>
                                  <p:iterate type="el" backwards="0">
                                    <p:tmAbs val="0"/>
                                  </p:iterate>
                                  <p:childTnLst>
                                    <p:set>
                                      <p:cBhvr>
                                        <p:cTn id="10" fill="hold"/>
                                        <p:tgtEl>
                                          <p:spTgt spid="24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1" fill="hold">
                                  <p:stCondLst>
                                    <p:cond delay="0"/>
                                  </p:stCondLst>
                                  <p:iterate type="el" backwards="0">
                                    <p:tmAbs val="0"/>
                                  </p:iterate>
                                  <p:childTnLst>
                                    <p:set>
                                      <p:cBhvr>
                                        <p:cTn id="14" fill="hold"/>
                                        <p:tgtEl>
                                          <p:spTgt spid="242">
                                            <p:txEl>
                                              <p:pRg st="2" end="2"/>
                                            </p:txEl>
                                          </p:spTgt>
                                        </p:tgtEl>
                                        <p:attrNameLst>
                                          <p:attrName>style.visibility</p:attrName>
                                        </p:attrNameLst>
                                      </p:cBhvr>
                                      <p:to>
                                        <p:strVal val="visible"/>
                                      </p:to>
                                    </p:set>
                                  </p:childTnLst>
                                </p:cTn>
                              </p:par>
                              <p:par>
                                <p:cTn id="15" presetClass="entr" nodeType="withEffect" presetSubtype="0" presetID="1" grpId="1" fill="hold">
                                  <p:stCondLst>
                                    <p:cond delay="0"/>
                                  </p:stCondLst>
                                  <p:iterate type="el" backwards="0">
                                    <p:tmAbs val="0"/>
                                  </p:iterate>
                                  <p:childTnLst>
                                    <p:set>
                                      <p:cBhvr>
                                        <p:cTn id="16" fill="hold"/>
                                        <p:tgtEl>
                                          <p:spTgt spid="242">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1" fill="hold">
                                  <p:stCondLst>
                                    <p:cond delay="0"/>
                                  </p:stCondLst>
                                  <p:iterate type="el" backwards="0">
                                    <p:tmAbs val="0"/>
                                  </p:iterate>
                                  <p:childTnLst>
                                    <p:set>
                                      <p:cBhvr>
                                        <p:cTn id="20" fill="hold"/>
                                        <p:tgtEl>
                                          <p:spTgt spid="242">
                                            <p:txEl>
                                              <p:pRg st="4" end="4"/>
                                            </p:txEl>
                                          </p:spTgt>
                                        </p:tgtEl>
                                        <p:attrNameLst>
                                          <p:attrName>style.visibility</p:attrName>
                                        </p:attrNameLst>
                                      </p:cBhvr>
                                      <p:to>
                                        <p:strVal val="visible"/>
                                      </p:to>
                                    </p:set>
                                  </p:childTnLst>
                                </p:cTn>
                              </p:par>
                              <p:par>
                                <p:cTn id="21" presetClass="entr" nodeType="withEffect" presetSubtype="0" presetID="1" grpId="1" fill="hold">
                                  <p:stCondLst>
                                    <p:cond delay="0"/>
                                  </p:stCondLst>
                                  <p:iterate type="el" backwards="0">
                                    <p:tmAbs val="0"/>
                                  </p:iterate>
                                  <p:childTnLst>
                                    <p:set>
                                      <p:cBhvr>
                                        <p:cTn id="22" fill="hold"/>
                                        <p:tgtEl>
                                          <p:spTgt spid="24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0" presetID="1" grpId="1" fill="hold">
                                  <p:stCondLst>
                                    <p:cond delay="0"/>
                                  </p:stCondLst>
                                  <p:iterate type="el" backwards="0">
                                    <p:tmAbs val="0"/>
                                  </p:iterate>
                                  <p:childTnLst>
                                    <p:set>
                                      <p:cBhvr>
                                        <p:cTn id="26" fill="hold"/>
                                        <p:tgtEl>
                                          <p:spTgt spid="242">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242" grpId="1"/>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46" name="Performance"/>
          <p:cNvSpPr txBox="1"/>
          <p:nvPr>
            <p:ph type="title"/>
          </p:nvPr>
        </p:nvSpPr>
        <p:spPr>
          <a:prstGeom prst="rect">
            <a:avLst/>
          </a:prstGeom>
        </p:spPr>
        <p:txBody>
          <a:bodyPr/>
          <a:lstStyle/>
          <a:p>
            <a:pPr/>
            <a:r>
              <a:t>Performance</a:t>
            </a:r>
          </a:p>
        </p:txBody>
      </p:sp>
      <p:sp>
        <p:nvSpPr>
          <p:cNvPr id="247" name="Apache DataFus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a:t>
            </a:r>
          </a:p>
        </p:txBody>
      </p:sp>
      <p:sp>
        <p:nvSpPr>
          <p:cNvPr id="248" name="Source: Apache DataFusion is now the fastest single node engine for querying Apache Parquet files"/>
          <p:cNvSpPr txBox="1"/>
          <p:nvPr/>
        </p:nvSpPr>
        <p:spPr>
          <a:xfrm>
            <a:off x="508000" y="12573000"/>
            <a:ext cx="18179187" cy="5728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3200">
                <a:solidFill>
                  <a:srgbClr val="A9A9A9"/>
                </a:solidFill>
              </a:defRPr>
            </a:pPr>
            <a:r>
              <a:t>Source: </a:t>
            </a:r>
            <a:r>
              <a:rPr u="sng">
                <a:hlinkClick r:id="rId3" invalidUrl="" action="" tgtFrame="" tooltip="" history="1" highlightClick="0" endSnd="0"/>
              </a:rPr>
              <a:t>Apache DataFusion is now the fastest single node engine for querying Apache Parquet files</a:t>
            </a:r>
          </a:p>
        </p:txBody>
      </p:sp>
      <p:grpSp>
        <p:nvGrpSpPr>
          <p:cNvPr id="251" name="Group"/>
          <p:cNvGrpSpPr/>
          <p:nvPr/>
        </p:nvGrpSpPr>
        <p:grpSpPr>
          <a:xfrm>
            <a:off x="4813300" y="3624860"/>
            <a:ext cx="14757400" cy="3665551"/>
            <a:chOff x="0" y="0"/>
            <a:chExt cx="14757400" cy="3665550"/>
          </a:xfrm>
        </p:grpSpPr>
        <p:pic>
          <p:nvPicPr>
            <p:cNvPr id="249" name="perf.png" descr="perf.png"/>
            <p:cNvPicPr>
              <a:picLocks noChangeAspect="1"/>
            </p:cNvPicPr>
            <p:nvPr/>
          </p:nvPicPr>
          <p:blipFill>
            <a:blip r:embed="rId4">
              <a:extLst/>
            </a:blip>
            <a:stretch>
              <a:fillRect/>
            </a:stretch>
          </p:blipFill>
          <p:spPr>
            <a:xfrm>
              <a:off x="0" y="1252550"/>
              <a:ext cx="14757400" cy="2413001"/>
            </a:xfrm>
            <a:prstGeom prst="rect">
              <a:avLst/>
            </a:prstGeom>
            <a:ln w="12700" cap="flat">
              <a:noFill/>
              <a:miter lim="400000"/>
            </a:ln>
            <a:effectLst/>
          </p:spPr>
        </p:pic>
        <p:sp>
          <p:nvSpPr>
            <p:cNvPr id="250" name="ClickBench, single-node, partitioned Parquet files:"/>
            <p:cNvSpPr txBox="1"/>
            <p:nvPr/>
          </p:nvSpPr>
          <p:spPr>
            <a:xfrm>
              <a:off x="501954" y="0"/>
              <a:ext cx="13753492" cy="8084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r>
                <a:t>ClickBench, single-node, partitioned Parquet files:</a:t>
              </a:r>
            </a:p>
          </p:txBody>
        </p:sp>
      </p:grpSp>
      <p:grpSp>
        <p:nvGrpSpPr>
          <p:cNvPr id="254" name="Group"/>
          <p:cNvGrpSpPr/>
          <p:nvPr/>
        </p:nvGrpSpPr>
        <p:grpSpPr>
          <a:xfrm>
            <a:off x="4667250" y="7734530"/>
            <a:ext cx="15049500" cy="3576651"/>
            <a:chOff x="0" y="0"/>
            <a:chExt cx="15049500" cy="3576649"/>
          </a:xfrm>
        </p:grpSpPr>
        <p:pic>
          <p:nvPicPr>
            <p:cNvPr id="252" name="perf-over-time.png" descr="perf-over-time.png"/>
            <p:cNvPicPr>
              <a:picLocks noChangeAspect="1"/>
            </p:cNvPicPr>
            <p:nvPr/>
          </p:nvPicPr>
          <p:blipFill>
            <a:blip r:embed="rId5">
              <a:extLst/>
            </a:blip>
            <a:stretch>
              <a:fillRect/>
            </a:stretch>
          </p:blipFill>
          <p:spPr>
            <a:xfrm>
              <a:off x="0" y="1252549"/>
              <a:ext cx="15049500" cy="2324101"/>
            </a:xfrm>
            <a:prstGeom prst="rect">
              <a:avLst/>
            </a:prstGeom>
            <a:ln w="12700" cap="flat">
              <a:noFill/>
              <a:miter lim="400000"/>
            </a:ln>
            <a:effectLst/>
          </p:spPr>
        </p:pic>
        <p:sp>
          <p:nvSpPr>
            <p:cNvPr id="253" name="Performance over time:"/>
            <p:cNvSpPr txBox="1"/>
            <p:nvPr/>
          </p:nvSpPr>
          <p:spPr>
            <a:xfrm>
              <a:off x="4283659" y="0"/>
              <a:ext cx="6482183" cy="8084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r>
                <a:t>Performance over time:</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5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25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51" grpId="1"/>
      <p:bldP build="whole" bldLvl="1" animBg="1" rev="0" advAuto="0" spid="254" grpId="2"/>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58" name="German-Style Strings"/>
          <p:cNvSpPr txBox="1"/>
          <p:nvPr>
            <p:ph type="title"/>
          </p:nvPr>
        </p:nvSpPr>
        <p:spPr>
          <a:prstGeom prst="rect">
            <a:avLst/>
          </a:prstGeom>
        </p:spPr>
        <p:txBody>
          <a:bodyPr/>
          <a:lstStyle/>
          <a:p>
            <a:pPr/>
            <a:r>
              <a:t>German-Style Strings</a:t>
            </a:r>
          </a:p>
        </p:txBody>
      </p:sp>
      <p:sp>
        <p:nvSpPr>
          <p:cNvPr id="259" name="Apache DataFus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a:t>
            </a:r>
          </a:p>
        </p:txBody>
      </p:sp>
      <p:sp>
        <p:nvSpPr>
          <p:cNvPr id="260" name="Data representations impact performance!…"/>
          <p:cNvSpPr txBox="1"/>
          <p:nvPr>
            <p:ph type="body" idx="1"/>
          </p:nvPr>
        </p:nvSpPr>
        <p:spPr>
          <a:prstGeom prst="rect">
            <a:avLst/>
          </a:prstGeom>
        </p:spPr>
        <p:txBody>
          <a:bodyPr/>
          <a:lstStyle/>
          <a:p>
            <a:pPr/>
            <a:r>
              <a:t>Data representations impact performance!</a:t>
            </a:r>
          </a:p>
          <a:p>
            <a:pPr/>
            <a:r>
              <a:t>Implemented in DataFusion as </a:t>
            </a:r>
            <a:r>
              <a:rPr>
                <a:latin typeface="Andale Mono"/>
                <a:ea typeface="Andale Mono"/>
                <a:cs typeface="Andale Mono"/>
                <a:sym typeface="Andale Mono"/>
              </a:rPr>
              <a:t>StringView</a:t>
            </a:r>
          </a:p>
          <a:p>
            <a:pPr/>
            <a:r>
              <a:t>Benefits:</a:t>
            </a:r>
          </a:p>
          <a:p>
            <a:pPr lvl="1"/>
            <a:r>
              <a:t>Faster loading from Parquet files</a:t>
            </a:r>
          </a:p>
          <a:p>
            <a:pPr lvl="1"/>
            <a:r>
              <a:t>Faster filtering of values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60">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260">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260">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el" backwards="0">
                                    <p:tmAbs val="0"/>
                                  </p:iterate>
                                  <p:childTnLst>
                                    <p:set>
                                      <p:cBhvr>
                                        <p:cTn id="16" fill="hold"/>
                                        <p:tgtEl>
                                          <p:spTgt spid="260">
                                            <p:txEl>
                                              <p:pRg st="2" end="2"/>
                                            </p:txEl>
                                          </p:spTgt>
                                        </p:tgtEl>
                                        <p:attrNameLst>
                                          <p:attrName>style.visibility</p:attrName>
                                        </p:attrNameLst>
                                      </p:cBhvr>
                                      <p:to>
                                        <p:strVal val="visible"/>
                                      </p:to>
                                    </p:set>
                                  </p:childTnLst>
                                </p:cTn>
                              </p:par>
                              <p:par>
                                <p:cTn id="17" presetClass="entr" nodeType="withEffect" presetSubtype="0" presetID="1" grpId="1" fill="hold">
                                  <p:stCondLst>
                                    <p:cond delay="0"/>
                                  </p:stCondLst>
                                  <p:iterate type="el" backwards="0">
                                    <p:tmAbs val="0"/>
                                  </p:iterate>
                                  <p:childTnLst>
                                    <p:set>
                                      <p:cBhvr>
                                        <p:cTn id="18" fill="hold"/>
                                        <p:tgtEl>
                                          <p:spTgt spid="260">
                                            <p:txEl>
                                              <p:pRg st="3" end="3"/>
                                            </p:txEl>
                                          </p:spTgt>
                                        </p:tgtEl>
                                        <p:attrNameLst>
                                          <p:attrName>style.visibility</p:attrName>
                                        </p:attrNameLst>
                                      </p:cBhvr>
                                      <p:to>
                                        <p:strVal val="visible"/>
                                      </p:to>
                                    </p:set>
                                  </p:childTnLst>
                                </p:cTn>
                              </p:par>
                              <p:par>
                                <p:cTn id="19" presetClass="entr" nodeType="withEffect" presetSubtype="0" presetID="1" grpId="1" fill="hold">
                                  <p:stCondLst>
                                    <p:cond delay="0"/>
                                  </p:stCondLst>
                                  <p:iterate type="el" backwards="0">
                                    <p:tmAbs val="0"/>
                                  </p:iterate>
                                  <p:childTnLst>
                                    <p:set>
                                      <p:cBhvr>
                                        <p:cTn id="20" fill="hold"/>
                                        <p:tgtEl>
                                          <p:spTgt spid="260">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260" grpId="1"/>
    </p:bldLst>
  </p:timing>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4" name="German-Style Strings"/>
          <p:cNvSpPr txBox="1"/>
          <p:nvPr>
            <p:ph type="title"/>
          </p:nvPr>
        </p:nvSpPr>
        <p:spPr>
          <a:xfrm>
            <a:off x="1206500" y="952500"/>
            <a:ext cx="20914742" cy="1435100"/>
          </a:xfrm>
          <a:prstGeom prst="rect">
            <a:avLst/>
          </a:prstGeom>
        </p:spPr>
        <p:txBody>
          <a:bodyPr/>
          <a:lstStyle/>
          <a:p>
            <a:pPr/>
            <a:r>
              <a:t>German-Style Strings</a:t>
            </a:r>
          </a:p>
        </p:txBody>
      </p:sp>
      <p:sp>
        <p:nvSpPr>
          <p:cNvPr id="265" name="Apache DataFus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a:t>
            </a:r>
          </a:p>
        </p:txBody>
      </p:sp>
      <p:sp>
        <p:nvSpPr>
          <p:cNvPr id="266" name="TU Munich DBMSs:…"/>
          <p:cNvSpPr txBox="1"/>
          <p:nvPr>
            <p:ph type="body" sz="half" idx="1"/>
          </p:nvPr>
        </p:nvSpPr>
        <p:spPr>
          <a:prstGeom prst="rect">
            <a:avLst/>
          </a:prstGeom>
        </p:spPr>
        <p:txBody>
          <a:bodyPr/>
          <a:lstStyle/>
          <a:p>
            <a:pPr/>
            <a:r>
              <a:t>TU Munich DBMSs:</a:t>
            </a:r>
          </a:p>
          <a:p>
            <a:pPr lvl="1"/>
            <a:r>
              <a:t>HyPer, acquired by Tableau, later acquired by Salesforce</a:t>
            </a:r>
          </a:p>
          <a:p>
            <a:pPr lvl="1"/>
            <a:r>
              <a:t>Umbra, commercialized as CedarDB</a:t>
            </a:r>
          </a:p>
        </p:txBody>
      </p:sp>
      <p:grpSp>
        <p:nvGrpSpPr>
          <p:cNvPr id="270" name="Group"/>
          <p:cNvGrpSpPr/>
          <p:nvPr/>
        </p:nvGrpSpPr>
        <p:grpSpPr>
          <a:xfrm>
            <a:off x="13215054" y="2541972"/>
            <a:ext cx="8820727" cy="10668001"/>
            <a:chOff x="0" y="0"/>
            <a:chExt cx="8820727" cy="10668000"/>
          </a:xfrm>
        </p:grpSpPr>
        <p:pic>
          <p:nvPicPr>
            <p:cNvPr id="267" name="p539-neumann-2.png" descr="p539-neumann-2.png"/>
            <p:cNvPicPr>
              <a:picLocks noChangeAspect="1"/>
            </p:cNvPicPr>
            <p:nvPr/>
          </p:nvPicPr>
          <p:blipFill>
            <a:blip r:embed="rId3">
              <a:extLst/>
            </a:blip>
            <a:srcRect l="0" t="0" r="0" b="0"/>
            <a:stretch>
              <a:fillRect/>
            </a:stretch>
          </p:blipFill>
          <p:spPr>
            <a:xfrm>
              <a:off x="2540000" y="0"/>
              <a:ext cx="6280728" cy="8128000"/>
            </a:xfrm>
            <a:prstGeom prst="rect">
              <a:avLst/>
            </a:prstGeom>
            <a:ln w="12700" cap="flat">
              <a:noFill/>
              <a:miter lim="400000"/>
            </a:ln>
            <a:effectLst/>
          </p:spPr>
        </p:pic>
        <p:pic>
          <p:nvPicPr>
            <p:cNvPr id="268" name="mvcc-2.png" descr="mvcc-2.png"/>
            <p:cNvPicPr>
              <a:picLocks noChangeAspect="1"/>
            </p:cNvPicPr>
            <p:nvPr/>
          </p:nvPicPr>
          <p:blipFill>
            <a:blip r:embed="rId4">
              <a:extLst/>
            </a:blip>
            <a:stretch>
              <a:fillRect/>
            </a:stretch>
          </p:blipFill>
          <p:spPr>
            <a:xfrm>
              <a:off x="1270000" y="1270000"/>
              <a:ext cx="6280728" cy="8128000"/>
            </a:xfrm>
            <a:prstGeom prst="rect">
              <a:avLst/>
            </a:prstGeom>
            <a:ln w="12700" cap="flat">
              <a:noFill/>
              <a:miter lim="400000"/>
            </a:ln>
            <a:effectLst/>
          </p:spPr>
        </p:pic>
        <p:pic>
          <p:nvPicPr>
            <p:cNvPr id="269" name="p29-neumann-cidr20.png" descr="p29-neumann-cidr20.png"/>
            <p:cNvPicPr>
              <a:picLocks noChangeAspect="1"/>
            </p:cNvPicPr>
            <p:nvPr/>
          </p:nvPicPr>
          <p:blipFill>
            <a:blip r:embed="rId5">
              <a:extLst/>
            </a:blip>
            <a:stretch>
              <a:fillRect/>
            </a:stretch>
          </p:blipFill>
          <p:spPr>
            <a:xfrm>
              <a:off x="0" y="2540000"/>
              <a:ext cx="6280728" cy="8128000"/>
            </a:xfrm>
            <a:prstGeom prst="rect">
              <a:avLst/>
            </a:prstGeom>
            <a:ln w="12700" cap="flat">
              <a:noFill/>
              <a:miter lim="400000"/>
            </a:ln>
            <a:effectLst/>
          </p:spPr>
        </p:pic>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66">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266">
                                            <p:txEl>
                                              <p:pRg st="0" end="0"/>
                                            </p:txEl>
                                          </p:spTgt>
                                        </p:tgtEl>
                                        <p:attrNameLst>
                                          <p:attrName>style.visibility</p:attrName>
                                        </p:attrNameLst>
                                      </p:cBhvr>
                                      <p:to>
                                        <p:strVal val="visible"/>
                                      </p:to>
                                    </p:set>
                                  </p:childTnLst>
                                </p:cTn>
                              </p:par>
                              <p:par>
                                <p:cTn id="9" presetClass="entr" nodeType="withEffect" presetSubtype="0" presetID="1" grpId="1" fill="hold">
                                  <p:stCondLst>
                                    <p:cond delay="0"/>
                                  </p:stCondLst>
                                  <p:iterate type="el" backwards="0">
                                    <p:tmAbs val="0"/>
                                  </p:iterate>
                                  <p:childTnLst>
                                    <p:set>
                                      <p:cBhvr>
                                        <p:cTn id="10" fill="hold"/>
                                        <p:tgtEl>
                                          <p:spTgt spid="266">
                                            <p:txEl>
                                              <p:pRg st="1" end="1"/>
                                            </p:txEl>
                                          </p:spTgt>
                                        </p:tgtEl>
                                        <p:attrNameLst>
                                          <p:attrName>style.visibility</p:attrName>
                                        </p:attrNameLst>
                                      </p:cBhvr>
                                      <p:to>
                                        <p:strVal val="visible"/>
                                      </p:to>
                                    </p:set>
                                  </p:childTnLst>
                                </p:cTn>
                              </p:par>
                              <p:par>
                                <p:cTn id="11" presetClass="entr" nodeType="withEffect" presetSubtype="0" presetID="1" grpId="1" fill="hold">
                                  <p:stCondLst>
                                    <p:cond delay="0"/>
                                  </p:stCondLst>
                                  <p:iterate type="el" backwards="0">
                                    <p:tmAbs val="0"/>
                                  </p:iterate>
                                  <p:childTnLst>
                                    <p:set>
                                      <p:cBhvr>
                                        <p:cTn id="12" fill="hold"/>
                                        <p:tgtEl>
                                          <p:spTgt spid="266">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2" fill="hold">
                                  <p:stCondLst>
                                    <p:cond delay="0"/>
                                  </p:stCondLst>
                                  <p:iterate type="el" backwards="0">
                                    <p:tmAbs val="0"/>
                                  </p:iterate>
                                  <p:childTnLst>
                                    <p:set>
                                      <p:cBhvr>
                                        <p:cTn id="16" fill="hold"/>
                                        <p:tgtEl>
                                          <p:spTgt spid="27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70" grpId="2"/>
      <p:bldP build="p" bldLvl="1" animBg="1" rev="0" advAuto="0" spid="266" grpId="1"/>
    </p:bldLst>
  </p:timing>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74" name="German-Style Strings"/>
          <p:cNvSpPr txBox="1"/>
          <p:nvPr>
            <p:ph type="title"/>
          </p:nvPr>
        </p:nvSpPr>
        <p:spPr>
          <a:prstGeom prst="rect">
            <a:avLst/>
          </a:prstGeom>
        </p:spPr>
        <p:txBody>
          <a:bodyPr/>
          <a:lstStyle/>
          <a:p>
            <a:pPr/>
            <a:r>
              <a:t>German-Style Strings</a:t>
            </a:r>
          </a:p>
        </p:txBody>
      </p:sp>
      <p:sp>
        <p:nvSpPr>
          <p:cNvPr id="275" name="Apache DataFus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a:t>
            </a:r>
          </a:p>
        </p:txBody>
      </p:sp>
      <p:grpSp>
        <p:nvGrpSpPr>
          <p:cNvPr id="280" name="Group"/>
          <p:cNvGrpSpPr/>
          <p:nvPr/>
        </p:nvGrpSpPr>
        <p:grpSpPr>
          <a:xfrm>
            <a:off x="1761717" y="5448300"/>
            <a:ext cx="7874001" cy="2715616"/>
            <a:chOff x="0" y="0"/>
            <a:chExt cx="7874000" cy="2715615"/>
          </a:xfrm>
        </p:grpSpPr>
        <p:grpSp>
          <p:nvGrpSpPr>
            <p:cNvPr id="278" name="Group"/>
            <p:cNvGrpSpPr/>
            <p:nvPr/>
          </p:nvGrpSpPr>
          <p:grpSpPr>
            <a:xfrm>
              <a:off x="0" y="1166215"/>
              <a:ext cx="7874000" cy="1549401"/>
              <a:chOff x="0" y="0"/>
              <a:chExt cx="7874000" cy="1549400"/>
            </a:xfrm>
          </p:grpSpPr>
          <p:sp>
            <p:nvSpPr>
              <p:cNvPr id="276" name="Rectangle"/>
              <p:cNvSpPr/>
              <p:nvPr/>
            </p:nvSpPr>
            <p:spPr>
              <a:xfrm>
                <a:off x="0" y="0"/>
                <a:ext cx="7874000" cy="1549400"/>
              </a:xfrm>
              <a:prstGeom prst="rect">
                <a:avLst/>
              </a:prstGeom>
              <a:solidFill>
                <a:srgbClr val="A9A9A9"/>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pic>
            <p:nvPicPr>
              <p:cNvPr id="277" name="cstring.svg" descr="cstring.svg"/>
              <p:cNvPicPr>
                <a:picLocks noChangeAspect="1"/>
              </p:cNvPicPr>
              <p:nvPr/>
            </p:nvPicPr>
            <p:blipFill>
              <a:blip r:embed="rId3">
                <a:extLst/>
              </a:blip>
              <a:stretch>
                <a:fillRect/>
              </a:stretch>
            </p:blipFill>
            <p:spPr>
              <a:xfrm>
                <a:off x="127501" y="126610"/>
                <a:ext cx="7618999" cy="1296179"/>
              </a:xfrm>
              <a:prstGeom prst="rect">
                <a:avLst/>
              </a:prstGeom>
              <a:ln w="12700" cap="flat">
                <a:noFill/>
                <a:miter lim="400000"/>
              </a:ln>
              <a:effectLst/>
            </p:spPr>
          </p:pic>
        </p:grpSp>
        <p:sp>
          <p:nvSpPr>
            <p:cNvPr id="279" name="C"/>
            <p:cNvSpPr txBox="1"/>
            <p:nvPr/>
          </p:nvSpPr>
          <p:spPr>
            <a:xfrm>
              <a:off x="3659784" y="0"/>
              <a:ext cx="554432" cy="8084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r>
                <a:t>C</a:t>
              </a:r>
            </a:p>
          </p:txBody>
        </p:sp>
      </p:grpSp>
      <p:grpSp>
        <p:nvGrpSpPr>
          <p:cNvPr id="285" name="Group"/>
          <p:cNvGrpSpPr/>
          <p:nvPr/>
        </p:nvGrpSpPr>
        <p:grpSpPr>
          <a:xfrm>
            <a:off x="11672059" y="5451971"/>
            <a:ext cx="11465388" cy="5849077"/>
            <a:chOff x="0" y="0"/>
            <a:chExt cx="11465386" cy="5849075"/>
          </a:xfrm>
        </p:grpSpPr>
        <p:grpSp>
          <p:nvGrpSpPr>
            <p:cNvPr id="283" name="Group"/>
            <p:cNvGrpSpPr/>
            <p:nvPr/>
          </p:nvGrpSpPr>
          <p:grpSpPr>
            <a:xfrm>
              <a:off x="0" y="1166215"/>
              <a:ext cx="11465387" cy="4682861"/>
              <a:chOff x="0" y="0"/>
              <a:chExt cx="11465386" cy="4682859"/>
            </a:xfrm>
          </p:grpSpPr>
          <p:sp>
            <p:nvSpPr>
              <p:cNvPr id="281" name="Rectangle"/>
              <p:cNvSpPr/>
              <p:nvPr/>
            </p:nvSpPr>
            <p:spPr>
              <a:xfrm>
                <a:off x="0" y="0"/>
                <a:ext cx="11465387" cy="4682860"/>
              </a:xfrm>
              <a:prstGeom prst="rect">
                <a:avLst/>
              </a:prstGeom>
              <a:solidFill>
                <a:srgbClr val="A9A9A9"/>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pic>
            <p:nvPicPr>
              <p:cNvPr id="282" name="stdstring.svg" descr="stdstring.svg"/>
              <p:cNvPicPr>
                <a:picLocks noChangeAspect="1"/>
              </p:cNvPicPr>
              <p:nvPr/>
            </p:nvPicPr>
            <p:blipFill>
              <a:blip r:embed="rId4">
                <a:extLst/>
              </a:blip>
              <a:stretch>
                <a:fillRect/>
              </a:stretch>
            </p:blipFill>
            <p:spPr>
              <a:xfrm>
                <a:off x="126198" y="123599"/>
                <a:ext cx="11212992" cy="4435662"/>
              </a:xfrm>
              <a:prstGeom prst="rect">
                <a:avLst/>
              </a:prstGeom>
              <a:ln w="12700" cap="flat">
                <a:noFill/>
                <a:miter lim="400000"/>
              </a:ln>
              <a:effectLst/>
            </p:spPr>
          </p:pic>
        </p:grpSp>
        <p:sp>
          <p:nvSpPr>
            <p:cNvPr id="284" name="C++"/>
            <p:cNvSpPr txBox="1"/>
            <p:nvPr/>
          </p:nvSpPr>
          <p:spPr>
            <a:xfrm>
              <a:off x="5089718" y="0"/>
              <a:ext cx="1285952" cy="8084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r>
                <a:t>C++</a:t>
              </a:r>
            </a:p>
          </p:txBody>
        </p:sp>
      </p:grpSp>
      <p:sp>
        <p:nvSpPr>
          <p:cNvPr id="286" name="Source: Why German Strings are Everywhere"/>
          <p:cNvSpPr txBox="1"/>
          <p:nvPr/>
        </p:nvSpPr>
        <p:spPr>
          <a:xfrm>
            <a:off x="508000" y="12573000"/>
            <a:ext cx="8288224" cy="5728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3200">
                <a:solidFill>
                  <a:srgbClr val="A9A9A9"/>
                </a:solidFill>
              </a:defRPr>
            </a:pPr>
            <a:r>
              <a:t>Source: </a:t>
            </a:r>
            <a:r>
              <a:rPr u="sng">
                <a:hlinkClick r:id="rId5" invalidUrl="" action="" tgtFrame="" tooltip="" history="1" highlightClick="0" endSnd="0"/>
              </a:rPr>
              <a:t>Why German Strings are Everywhere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28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280" grpId="1"/>
      <p:bldP build="whole" bldLvl="1" animBg="1" rev="0" advAuto="0" spid="285" grpId="2"/>
    </p:bldLst>
  </p:timing>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0" name="German-Style Strings"/>
          <p:cNvSpPr txBox="1"/>
          <p:nvPr>
            <p:ph type="title"/>
          </p:nvPr>
        </p:nvSpPr>
        <p:spPr>
          <a:prstGeom prst="rect">
            <a:avLst/>
          </a:prstGeom>
        </p:spPr>
        <p:txBody>
          <a:bodyPr/>
          <a:lstStyle/>
          <a:p>
            <a:pPr/>
            <a:r>
              <a:t>German-Style Strings</a:t>
            </a:r>
          </a:p>
        </p:txBody>
      </p:sp>
      <p:sp>
        <p:nvSpPr>
          <p:cNvPr id="291" name="Apache DataFus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a:t>
            </a:r>
          </a:p>
        </p:txBody>
      </p:sp>
      <p:sp>
        <p:nvSpPr>
          <p:cNvPr id="292" name="Observations:…"/>
          <p:cNvSpPr txBox="1"/>
          <p:nvPr>
            <p:ph type="body" idx="1"/>
          </p:nvPr>
        </p:nvSpPr>
        <p:spPr>
          <a:prstGeom prst="rect">
            <a:avLst/>
          </a:prstGeom>
        </p:spPr>
        <p:txBody>
          <a:bodyPr/>
          <a:lstStyle/>
          <a:p>
            <a:pPr/>
            <a:r>
              <a:t>Observations:</a:t>
            </a:r>
          </a:p>
          <a:p>
            <a:pPr lvl="1"/>
            <a:r>
              <a:t>Most strings are short</a:t>
            </a:r>
          </a:p>
          <a:p>
            <a:pPr lvl="1"/>
            <a:r>
              <a:t>Strings are not changed often</a:t>
            </a:r>
          </a:p>
          <a:p>
            <a:pPr lvl="1"/>
            <a:r>
              <a:t>We usually only look at a subset of the string</a:t>
            </a:r>
          </a:p>
        </p:txBody>
      </p:sp>
      <p:sp>
        <p:nvSpPr>
          <p:cNvPr id="293" name="Source: Why German Strings are Everywhere"/>
          <p:cNvSpPr txBox="1"/>
          <p:nvPr/>
        </p:nvSpPr>
        <p:spPr>
          <a:xfrm>
            <a:off x="508000" y="12573000"/>
            <a:ext cx="8288224" cy="5728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3200">
                <a:solidFill>
                  <a:srgbClr val="A9A9A9"/>
                </a:solidFill>
              </a:defRPr>
            </a:pPr>
            <a:r>
              <a:t>Source: </a:t>
            </a:r>
            <a:r>
              <a:rPr u="sng">
                <a:hlinkClick r:id="rId3" invalidUrl="" action="" tgtFrame="" tooltip="" history="1" highlightClick="0" endSnd="0"/>
              </a:rPr>
              <a:t>Why German Strings are Everywhere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292">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29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29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el" backwards="0">
                                    <p:tmAbs val="0"/>
                                  </p:iterate>
                                  <p:childTnLst>
                                    <p:set>
                                      <p:cBhvr>
                                        <p:cTn id="16" fill="hold"/>
                                        <p:tgtEl>
                                          <p:spTgt spid="29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1" fill="hold">
                                  <p:stCondLst>
                                    <p:cond delay="0"/>
                                  </p:stCondLst>
                                  <p:iterate type="el" backwards="0">
                                    <p:tmAbs val="0"/>
                                  </p:iterate>
                                  <p:childTnLst>
                                    <p:set>
                                      <p:cBhvr>
                                        <p:cTn id="20" fill="hold"/>
                                        <p:tgtEl>
                                          <p:spTgt spid="292">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292" grpId="1"/>
    </p:bldLst>
  </p:timing>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97" name="German-Style Strings"/>
          <p:cNvSpPr txBox="1"/>
          <p:nvPr>
            <p:ph type="title"/>
          </p:nvPr>
        </p:nvSpPr>
        <p:spPr>
          <a:prstGeom prst="rect">
            <a:avLst/>
          </a:prstGeom>
        </p:spPr>
        <p:txBody>
          <a:bodyPr/>
          <a:lstStyle/>
          <a:p>
            <a:pPr/>
            <a:r>
              <a:t>German-Style Strings</a:t>
            </a:r>
          </a:p>
        </p:txBody>
      </p:sp>
      <p:sp>
        <p:nvSpPr>
          <p:cNvPr id="298" name="Apache DataFus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a:t>
            </a:r>
          </a:p>
        </p:txBody>
      </p:sp>
      <p:sp>
        <p:nvSpPr>
          <p:cNvPr id="299" name="Source: Why German Strings are Everywhere"/>
          <p:cNvSpPr txBox="1"/>
          <p:nvPr/>
        </p:nvSpPr>
        <p:spPr>
          <a:xfrm>
            <a:off x="508000" y="12573000"/>
            <a:ext cx="8288224" cy="5728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3200">
                <a:solidFill>
                  <a:srgbClr val="A9A9A9"/>
                </a:solidFill>
              </a:defRPr>
            </a:pPr>
            <a:r>
              <a:t>Source: </a:t>
            </a:r>
            <a:r>
              <a:rPr u="sng">
                <a:hlinkClick r:id="rId3" invalidUrl="" action="" tgtFrame="" tooltip="" history="1" highlightClick="0" endSnd="0"/>
              </a:rPr>
              <a:t>Why German Strings are Everywhere</a:t>
            </a:r>
          </a:p>
        </p:txBody>
      </p:sp>
      <p:grpSp>
        <p:nvGrpSpPr>
          <p:cNvPr id="304" name="Group"/>
          <p:cNvGrpSpPr/>
          <p:nvPr/>
        </p:nvGrpSpPr>
        <p:grpSpPr>
          <a:xfrm>
            <a:off x="1917700" y="7655220"/>
            <a:ext cx="20548600" cy="3990482"/>
            <a:chOff x="0" y="0"/>
            <a:chExt cx="20548600" cy="3990481"/>
          </a:xfrm>
        </p:grpSpPr>
        <p:grpSp>
          <p:nvGrpSpPr>
            <p:cNvPr id="302" name="Group"/>
            <p:cNvGrpSpPr/>
            <p:nvPr/>
          </p:nvGrpSpPr>
          <p:grpSpPr>
            <a:xfrm>
              <a:off x="0" y="1132981"/>
              <a:ext cx="20548600" cy="2857501"/>
              <a:chOff x="0" y="0"/>
              <a:chExt cx="20548600" cy="2857500"/>
            </a:xfrm>
          </p:grpSpPr>
          <p:sp>
            <p:nvSpPr>
              <p:cNvPr id="300" name="Rectangle"/>
              <p:cNvSpPr/>
              <p:nvPr/>
            </p:nvSpPr>
            <p:spPr>
              <a:xfrm>
                <a:off x="0" y="0"/>
                <a:ext cx="20548600" cy="2857500"/>
              </a:xfrm>
              <a:prstGeom prst="rect">
                <a:avLst/>
              </a:prstGeom>
              <a:solidFill>
                <a:srgbClr val="A9A9A9"/>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pic>
            <p:nvPicPr>
              <p:cNvPr id="301" name="longstring.svg" descr="longstring.svg"/>
              <p:cNvPicPr>
                <a:picLocks noChangeAspect="1"/>
              </p:cNvPicPr>
              <p:nvPr/>
            </p:nvPicPr>
            <p:blipFill>
              <a:blip r:embed="rId4">
                <a:extLst/>
              </a:blip>
              <a:stretch>
                <a:fillRect/>
              </a:stretch>
            </p:blipFill>
            <p:spPr>
              <a:xfrm>
                <a:off x="127000" y="126592"/>
                <a:ext cx="20294600" cy="2604316"/>
              </a:xfrm>
              <a:prstGeom prst="rect">
                <a:avLst/>
              </a:prstGeom>
              <a:ln w="12700" cap="flat">
                <a:noFill/>
                <a:miter lim="400000"/>
              </a:ln>
              <a:effectLst/>
            </p:spPr>
          </p:pic>
        </p:grpSp>
        <p:sp>
          <p:nvSpPr>
            <p:cNvPr id="303" name="Long string"/>
            <p:cNvSpPr txBox="1"/>
            <p:nvPr/>
          </p:nvSpPr>
          <p:spPr>
            <a:xfrm>
              <a:off x="8681567" y="0"/>
              <a:ext cx="3185466" cy="8084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r>
                <a:t>Long string</a:t>
              </a:r>
            </a:p>
          </p:txBody>
        </p:sp>
      </p:grpSp>
      <p:grpSp>
        <p:nvGrpSpPr>
          <p:cNvPr id="309" name="Group"/>
          <p:cNvGrpSpPr/>
          <p:nvPr/>
        </p:nvGrpSpPr>
        <p:grpSpPr>
          <a:xfrm>
            <a:off x="6699249" y="3505290"/>
            <a:ext cx="10985501" cy="3825382"/>
            <a:chOff x="0" y="0"/>
            <a:chExt cx="10985500" cy="3825380"/>
          </a:xfrm>
        </p:grpSpPr>
        <p:grpSp>
          <p:nvGrpSpPr>
            <p:cNvPr id="307" name="Group"/>
            <p:cNvGrpSpPr/>
            <p:nvPr/>
          </p:nvGrpSpPr>
          <p:grpSpPr>
            <a:xfrm>
              <a:off x="0" y="1132980"/>
              <a:ext cx="10985500" cy="2692401"/>
              <a:chOff x="0" y="0"/>
              <a:chExt cx="10985500" cy="2692400"/>
            </a:xfrm>
          </p:grpSpPr>
          <p:sp>
            <p:nvSpPr>
              <p:cNvPr id="305" name="Rectangle"/>
              <p:cNvSpPr/>
              <p:nvPr/>
            </p:nvSpPr>
            <p:spPr>
              <a:xfrm>
                <a:off x="0" y="0"/>
                <a:ext cx="10985500" cy="2692400"/>
              </a:xfrm>
              <a:prstGeom prst="rect">
                <a:avLst/>
              </a:prstGeom>
              <a:solidFill>
                <a:srgbClr val="A9A9A9"/>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pic>
            <p:nvPicPr>
              <p:cNvPr id="306" name="shortstring.svg" descr="shortstring.svg"/>
              <p:cNvPicPr>
                <a:picLocks noChangeAspect="1"/>
              </p:cNvPicPr>
              <p:nvPr/>
            </p:nvPicPr>
            <p:blipFill>
              <a:blip r:embed="rId5">
                <a:extLst/>
              </a:blip>
              <a:stretch>
                <a:fillRect/>
              </a:stretch>
            </p:blipFill>
            <p:spPr>
              <a:xfrm>
                <a:off x="127000" y="123825"/>
                <a:ext cx="10731500" cy="2444750"/>
              </a:xfrm>
              <a:prstGeom prst="rect">
                <a:avLst/>
              </a:prstGeom>
              <a:ln w="12700" cap="flat">
                <a:noFill/>
                <a:miter lim="400000"/>
              </a:ln>
              <a:effectLst/>
            </p:spPr>
          </p:pic>
        </p:grpSp>
        <p:sp>
          <p:nvSpPr>
            <p:cNvPr id="308" name="Short string"/>
            <p:cNvSpPr txBox="1"/>
            <p:nvPr/>
          </p:nvSpPr>
          <p:spPr>
            <a:xfrm>
              <a:off x="3849421" y="0"/>
              <a:ext cx="3286660" cy="8084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none" lIns="50800" tIns="50800" rIns="50800" bIns="50800" numCol="1" anchor="ctr">
              <a:spAutoFit/>
            </a:bodyPr>
            <a:lstStyle/>
            <a:p>
              <a:pPr/>
              <a:r>
                <a:t>Short string</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0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30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09" grpId="1"/>
      <p:bldP build="whole" bldLvl="1" animBg="1" rev="0" advAuto="0" spid="304" grpId="2"/>
    </p:bldLst>
  </p:timing>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3" name="German-Style String Performance"/>
          <p:cNvSpPr txBox="1"/>
          <p:nvPr>
            <p:ph type="title"/>
          </p:nvPr>
        </p:nvSpPr>
        <p:spPr>
          <a:prstGeom prst="rect">
            <a:avLst/>
          </a:prstGeom>
        </p:spPr>
        <p:txBody>
          <a:bodyPr/>
          <a:lstStyle/>
          <a:p>
            <a:pPr/>
            <a:r>
              <a:t>German-Style String Performance</a:t>
            </a:r>
          </a:p>
        </p:txBody>
      </p:sp>
      <p:sp>
        <p:nvSpPr>
          <p:cNvPr id="314" name="Apache DataFusion"/>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a:t>
            </a:r>
          </a:p>
        </p:txBody>
      </p:sp>
      <p:sp>
        <p:nvSpPr>
          <p:cNvPr id="315" name="Source: Faster DataFusion with StringView"/>
          <p:cNvSpPr txBox="1"/>
          <p:nvPr/>
        </p:nvSpPr>
        <p:spPr>
          <a:xfrm>
            <a:off x="508000" y="12573000"/>
            <a:ext cx="7850937" cy="5728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3200">
                <a:solidFill>
                  <a:srgbClr val="A9A9A9"/>
                </a:solidFill>
              </a:defRPr>
            </a:pPr>
            <a:r>
              <a:t>Source: </a:t>
            </a:r>
            <a:r>
              <a:rPr u="sng">
                <a:hlinkClick r:id="rId3" invalidUrl="" action="" tgtFrame="" tooltip="" history="1" highlightClick="0" endSnd="0"/>
              </a:rPr>
              <a:t>Faster DataFusion with StringView</a:t>
            </a:r>
          </a:p>
        </p:txBody>
      </p:sp>
      <p:pic>
        <p:nvPicPr>
          <p:cNvPr id="316" name="Screenshot 2025-02-09 at 9.28.22 PM.png" descr="Screenshot 2025-02-09 at 9.28.22 PM.png"/>
          <p:cNvPicPr>
            <a:picLocks noChangeAspect="1"/>
          </p:cNvPicPr>
          <p:nvPr/>
        </p:nvPicPr>
        <p:blipFill>
          <a:blip r:embed="rId4">
            <a:extLst/>
          </a:blip>
          <a:stretch>
            <a:fillRect/>
          </a:stretch>
        </p:blipFill>
        <p:spPr>
          <a:xfrm>
            <a:off x="852982" y="4743620"/>
            <a:ext cx="22678036" cy="7265779"/>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16" grpId="1"/>
    </p:bldLst>
  </p:timing>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0" name="Apache DataFusion Comet"/>
          <p:cNvSpPr txBox="1"/>
          <p:nvPr>
            <p:ph type="title"/>
          </p:nvPr>
        </p:nvSpPr>
        <p:spPr>
          <a:prstGeom prst="rect">
            <a:avLst/>
          </a:prstGeom>
        </p:spPr>
        <p:txBody>
          <a:bodyPr/>
          <a:lstStyle/>
          <a:p>
            <a:pPr/>
            <a:r>
              <a:t>Apache DataFusion Comet</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2" name="Apache Spark"/>
          <p:cNvSpPr txBox="1"/>
          <p:nvPr>
            <p:ph type="title"/>
          </p:nvPr>
        </p:nvSpPr>
        <p:spPr>
          <a:prstGeom prst="rect">
            <a:avLst/>
          </a:prstGeom>
        </p:spPr>
        <p:txBody>
          <a:bodyPr/>
          <a:lstStyle/>
          <a:p>
            <a:pPr/>
            <a:r>
              <a:t>Apache Spark</a:t>
            </a:r>
          </a:p>
        </p:txBody>
      </p:sp>
      <p:sp>
        <p:nvSpPr>
          <p:cNvPr id="323" name="Apache DataFusion Comet"/>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 Comet</a:t>
            </a:r>
          </a:p>
        </p:txBody>
      </p:sp>
      <p:sp>
        <p:nvSpPr>
          <p:cNvPr id="324" name="Large scale distributed query processing…"/>
          <p:cNvSpPr txBox="1"/>
          <p:nvPr>
            <p:ph type="body" sz="half" idx="1"/>
          </p:nvPr>
        </p:nvSpPr>
        <p:spPr>
          <a:xfrm>
            <a:off x="1206500" y="4248504"/>
            <a:ext cx="12550464" cy="8256012"/>
          </a:xfrm>
          <a:prstGeom prst="rect">
            <a:avLst/>
          </a:prstGeom>
        </p:spPr>
        <p:txBody>
          <a:bodyPr/>
          <a:lstStyle/>
          <a:p>
            <a:pPr/>
            <a:r>
              <a:t>Large scale distributed query processing</a:t>
            </a:r>
          </a:p>
          <a:p>
            <a:pPr/>
            <a:r>
              <a:t>Originated at UC Berkeley’s AMPLab</a:t>
            </a:r>
          </a:p>
          <a:p>
            <a:pPr/>
            <a:r>
              <a:t>Downsides:</a:t>
            </a:r>
          </a:p>
          <a:p>
            <a:pPr lvl="1"/>
            <a:r>
              <a:t>Row-based query processing</a:t>
            </a:r>
          </a:p>
          <a:p>
            <a:pPr lvl="1"/>
            <a:r>
              <a:t>JVM execution not as fast as native code</a:t>
            </a:r>
          </a:p>
          <a:p>
            <a:pPr lvl="1"/>
            <a:r>
              <a:t>JVM garbage collection adds unpredictable latency</a:t>
            </a:r>
          </a:p>
        </p:txBody>
      </p:sp>
      <p:pic>
        <p:nvPicPr>
          <p:cNvPr id="325" name="2723372.2742797.png" descr="2723372.2742797.png"/>
          <p:cNvPicPr>
            <a:picLocks noChangeAspect="1"/>
          </p:cNvPicPr>
          <p:nvPr/>
        </p:nvPicPr>
        <p:blipFill>
          <a:blip r:embed="rId3">
            <a:extLst/>
          </a:blip>
          <a:stretch>
            <a:fillRect/>
          </a:stretch>
        </p:blipFill>
        <p:spPr>
          <a:xfrm>
            <a:off x="14325600" y="2540000"/>
            <a:ext cx="8243455" cy="1066800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24">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324">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324">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el" backwards="0">
                                    <p:tmAbs val="0"/>
                                  </p:iterate>
                                  <p:childTnLst>
                                    <p:set>
                                      <p:cBhvr>
                                        <p:cTn id="16" fill="hold"/>
                                        <p:tgtEl>
                                          <p:spTgt spid="324">
                                            <p:txEl>
                                              <p:pRg st="2" end="2"/>
                                            </p:txEl>
                                          </p:spTgt>
                                        </p:tgtEl>
                                        <p:attrNameLst>
                                          <p:attrName>style.visibility</p:attrName>
                                        </p:attrNameLst>
                                      </p:cBhvr>
                                      <p:to>
                                        <p:strVal val="visible"/>
                                      </p:to>
                                    </p:set>
                                  </p:childTnLst>
                                </p:cTn>
                              </p:par>
                              <p:par>
                                <p:cTn id="17" presetClass="entr" nodeType="withEffect" presetSubtype="0" presetID="1" grpId="1" fill="hold">
                                  <p:stCondLst>
                                    <p:cond delay="0"/>
                                  </p:stCondLst>
                                  <p:iterate type="el" backwards="0">
                                    <p:tmAbs val="0"/>
                                  </p:iterate>
                                  <p:childTnLst>
                                    <p:set>
                                      <p:cBhvr>
                                        <p:cTn id="18" fill="hold"/>
                                        <p:tgtEl>
                                          <p:spTgt spid="324">
                                            <p:txEl>
                                              <p:pRg st="3" end="3"/>
                                            </p:txEl>
                                          </p:spTgt>
                                        </p:tgtEl>
                                        <p:attrNameLst>
                                          <p:attrName>style.visibility</p:attrName>
                                        </p:attrNameLst>
                                      </p:cBhvr>
                                      <p:to>
                                        <p:strVal val="visible"/>
                                      </p:to>
                                    </p:set>
                                  </p:childTnLst>
                                </p:cTn>
                              </p:par>
                              <p:par>
                                <p:cTn id="19" presetClass="entr" nodeType="withEffect" presetSubtype="0" presetID="1" grpId="1" fill="hold">
                                  <p:stCondLst>
                                    <p:cond delay="0"/>
                                  </p:stCondLst>
                                  <p:iterate type="el" backwards="0">
                                    <p:tmAbs val="0"/>
                                  </p:iterate>
                                  <p:childTnLst>
                                    <p:set>
                                      <p:cBhvr>
                                        <p:cTn id="20" fill="hold"/>
                                        <p:tgtEl>
                                          <p:spTgt spid="324">
                                            <p:txEl>
                                              <p:pRg st="4" end="4"/>
                                            </p:txEl>
                                          </p:spTgt>
                                        </p:tgtEl>
                                        <p:attrNameLst>
                                          <p:attrName>style.visibility</p:attrName>
                                        </p:attrNameLst>
                                      </p:cBhvr>
                                      <p:to>
                                        <p:strVal val="visible"/>
                                      </p:to>
                                    </p:set>
                                  </p:childTnLst>
                                </p:cTn>
                              </p:par>
                              <p:par>
                                <p:cTn id="21" presetClass="entr" nodeType="withEffect" presetSubtype="0" presetID="1" grpId="1" fill="hold">
                                  <p:stCondLst>
                                    <p:cond delay="0"/>
                                  </p:stCondLst>
                                  <p:iterate type="el" backwards="0">
                                    <p:tmAbs val="0"/>
                                  </p:iterate>
                                  <p:childTnLst>
                                    <p:set>
                                      <p:cBhvr>
                                        <p:cTn id="22" fill="hold"/>
                                        <p:tgtEl>
                                          <p:spTgt spid="324">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324" grpId="1"/>
    </p:bldLst>
  </p:timing>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29" name="Apache Spark"/>
          <p:cNvSpPr txBox="1"/>
          <p:nvPr>
            <p:ph type="title"/>
          </p:nvPr>
        </p:nvSpPr>
        <p:spPr>
          <a:prstGeom prst="rect">
            <a:avLst/>
          </a:prstGeom>
        </p:spPr>
        <p:txBody>
          <a:bodyPr/>
          <a:lstStyle/>
          <a:p>
            <a:pPr/>
            <a:r>
              <a:t>Apache Spark</a:t>
            </a:r>
          </a:p>
        </p:txBody>
      </p:sp>
      <p:sp>
        <p:nvSpPr>
          <p:cNvPr id="330" name="Apache DataFusion Comet"/>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 Comet</a:t>
            </a:r>
          </a:p>
        </p:txBody>
      </p:sp>
      <p:grpSp>
        <p:nvGrpSpPr>
          <p:cNvPr id="336" name="Group"/>
          <p:cNvGrpSpPr/>
          <p:nvPr/>
        </p:nvGrpSpPr>
        <p:grpSpPr>
          <a:xfrm>
            <a:off x="2907504" y="6489137"/>
            <a:ext cx="6130480" cy="3648060"/>
            <a:chOff x="0" y="0"/>
            <a:chExt cx="6130478" cy="3648059"/>
          </a:xfrm>
        </p:grpSpPr>
        <p:grpSp>
          <p:nvGrpSpPr>
            <p:cNvPr id="334" name="Group"/>
            <p:cNvGrpSpPr/>
            <p:nvPr/>
          </p:nvGrpSpPr>
          <p:grpSpPr>
            <a:xfrm>
              <a:off x="0" y="0"/>
              <a:ext cx="4661005" cy="3648060"/>
              <a:chOff x="0" y="0"/>
              <a:chExt cx="4661004" cy="3648059"/>
            </a:xfrm>
          </p:grpSpPr>
          <p:sp>
            <p:nvSpPr>
              <p:cNvPr id="331" name="Application"/>
              <p:cNvSpPr/>
              <p:nvPr/>
            </p:nvSpPr>
            <p:spPr>
              <a:xfrm>
                <a:off x="0" y="0"/>
                <a:ext cx="4661005" cy="3648060"/>
              </a:xfrm>
              <a:prstGeom prst="roundRect">
                <a:avLst>
                  <a:gd name="adj" fmla="val 15000"/>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Application</a:t>
                </a:r>
              </a:p>
            </p:txBody>
          </p:sp>
          <p:sp>
            <p:nvSpPr>
              <p:cNvPr id="332" name="Driver"/>
              <p:cNvSpPr/>
              <p:nvPr/>
            </p:nvSpPr>
            <p:spPr>
              <a:xfrm>
                <a:off x="245686" y="1089475"/>
                <a:ext cx="4169632" cy="2365443"/>
              </a:xfrm>
              <a:prstGeom prst="roundRect">
                <a:avLst>
                  <a:gd name="adj" fmla="val 23133"/>
                </a:avLst>
              </a:prstGeom>
              <a:solidFill>
                <a:srgbClr val="FFFFFF"/>
              </a:solidFill>
              <a:ln w="127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Driver</a:t>
                </a:r>
              </a:p>
            </p:txBody>
          </p:sp>
          <p:pic>
            <p:nvPicPr>
              <p:cNvPr id="333" name="Apache_Spark_logo.svg" descr="Apache_Spark_logo.svg"/>
              <p:cNvPicPr>
                <a:picLocks noChangeAspect="1"/>
              </p:cNvPicPr>
              <p:nvPr/>
            </p:nvPicPr>
            <p:blipFill>
              <a:blip r:embed="rId3">
                <a:extLst/>
              </a:blip>
              <a:stretch>
                <a:fillRect/>
              </a:stretch>
            </p:blipFill>
            <p:spPr>
              <a:xfrm>
                <a:off x="740584" y="1446514"/>
                <a:ext cx="3179836" cy="1651364"/>
              </a:xfrm>
              <a:prstGeom prst="rect">
                <a:avLst/>
              </a:prstGeom>
              <a:ln w="12700" cap="flat">
                <a:noFill/>
                <a:miter lim="400000"/>
              </a:ln>
              <a:effectLst/>
            </p:spPr>
          </p:pic>
        </p:grpSp>
        <p:sp>
          <p:nvSpPr>
            <p:cNvPr id="335" name="Arrow"/>
            <p:cNvSpPr/>
            <p:nvPr/>
          </p:nvSpPr>
          <p:spPr>
            <a:xfrm>
              <a:off x="4860478" y="1189029"/>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grpSp>
      <p:grpSp>
        <p:nvGrpSpPr>
          <p:cNvPr id="340" name="Group"/>
          <p:cNvGrpSpPr/>
          <p:nvPr/>
        </p:nvGrpSpPr>
        <p:grpSpPr>
          <a:xfrm>
            <a:off x="9237456" y="4249082"/>
            <a:ext cx="4015046" cy="8128170"/>
            <a:chOff x="0" y="0"/>
            <a:chExt cx="4015045" cy="8128168"/>
          </a:xfrm>
        </p:grpSpPr>
        <p:sp>
          <p:nvSpPr>
            <p:cNvPr id="337" name="Scheduler"/>
            <p:cNvSpPr/>
            <p:nvPr/>
          </p:nvSpPr>
          <p:spPr>
            <a:xfrm>
              <a:off x="0" y="0"/>
              <a:ext cx="2545572" cy="8128169"/>
            </a:xfrm>
            <a:prstGeom prst="roundRect">
              <a:avLst>
                <a:gd name="adj" fmla="val 15503"/>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Scheduler</a:t>
              </a:r>
            </a:p>
          </p:txBody>
        </p:sp>
        <p:sp>
          <p:nvSpPr>
            <p:cNvPr id="338" name="Arrow"/>
            <p:cNvSpPr/>
            <p:nvPr/>
          </p:nvSpPr>
          <p:spPr>
            <a:xfrm>
              <a:off x="2745045" y="5714854"/>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sp>
          <p:nvSpPr>
            <p:cNvPr id="339" name="Arrow"/>
            <p:cNvSpPr/>
            <p:nvPr/>
          </p:nvSpPr>
          <p:spPr>
            <a:xfrm>
              <a:off x="2745045" y="1275574"/>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grpSp>
      <p:grpSp>
        <p:nvGrpSpPr>
          <p:cNvPr id="345" name="Group"/>
          <p:cNvGrpSpPr/>
          <p:nvPr/>
        </p:nvGrpSpPr>
        <p:grpSpPr>
          <a:xfrm>
            <a:off x="17660923" y="4254657"/>
            <a:ext cx="3815573" cy="8248466"/>
            <a:chOff x="0" y="0"/>
            <a:chExt cx="3815571" cy="8248465"/>
          </a:xfrm>
        </p:grpSpPr>
        <p:sp>
          <p:nvSpPr>
            <p:cNvPr id="341" name="Executor"/>
            <p:cNvSpPr/>
            <p:nvPr/>
          </p:nvSpPr>
          <p:spPr>
            <a:xfrm>
              <a:off x="5571" y="0"/>
              <a:ext cx="3810001" cy="1778000"/>
            </a:xfrm>
            <a:prstGeom prst="roundRect">
              <a:avLst>
                <a:gd name="adj" fmla="val 28692"/>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Executor</a:t>
              </a:r>
            </a:p>
          </p:txBody>
        </p:sp>
        <p:sp>
          <p:nvSpPr>
            <p:cNvPr id="342" name="Executor"/>
            <p:cNvSpPr/>
            <p:nvPr/>
          </p:nvSpPr>
          <p:spPr>
            <a:xfrm>
              <a:off x="5571" y="2030372"/>
              <a:ext cx="3810001" cy="1778001"/>
            </a:xfrm>
            <a:prstGeom prst="roundRect">
              <a:avLst>
                <a:gd name="adj" fmla="val 28692"/>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Executor</a:t>
              </a:r>
            </a:p>
          </p:txBody>
        </p:sp>
        <p:sp>
          <p:nvSpPr>
            <p:cNvPr id="343" name="Executor"/>
            <p:cNvSpPr/>
            <p:nvPr/>
          </p:nvSpPr>
          <p:spPr>
            <a:xfrm>
              <a:off x="0" y="4440093"/>
              <a:ext cx="3810000" cy="1778001"/>
            </a:xfrm>
            <a:prstGeom prst="roundRect">
              <a:avLst>
                <a:gd name="adj" fmla="val 28692"/>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Executor</a:t>
              </a:r>
            </a:p>
          </p:txBody>
        </p:sp>
        <p:sp>
          <p:nvSpPr>
            <p:cNvPr id="344" name="Executor"/>
            <p:cNvSpPr/>
            <p:nvPr/>
          </p:nvSpPr>
          <p:spPr>
            <a:xfrm>
              <a:off x="0" y="6470465"/>
              <a:ext cx="3810000" cy="1778001"/>
            </a:xfrm>
            <a:prstGeom prst="roundRect">
              <a:avLst>
                <a:gd name="adj" fmla="val 28692"/>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Executor</a:t>
              </a:r>
            </a:p>
          </p:txBody>
        </p:sp>
      </p:grpSp>
      <p:grpSp>
        <p:nvGrpSpPr>
          <p:cNvPr id="352" name="Group"/>
          <p:cNvGrpSpPr/>
          <p:nvPr/>
        </p:nvGrpSpPr>
        <p:grpSpPr>
          <a:xfrm>
            <a:off x="13451975" y="4254657"/>
            <a:ext cx="4012260" cy="8249280"/>
            <a:chOff x="0" y="0"/>
            <a:chExt cx="4012258" cy="8249279"/>
          </a:xfrm>
        </p:grpSpPr>
        <p:sp>
          <p:nvSpPr>
            <p:cNvPr id="346" name="Worker"/>
            <p:cNvSpPr/>
            <p:nvPr/>
          </p:nvSpPr>
          <p:spPr>
            <a:xfrm>
              <a:off x="0" y="0"/>
              <a:ext cx="2540000" cy="3810000"/>
            </a:xfrm>
            <a:prstGeom prst="roundRect">
              <a:avLst>
                <a:gd name="adj" fmla="val 20084"/>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Worker</a:t>
              </a:r>
            </a:p>
          </p:txBody>
        </p:sp>
        <p:sp>
          <p:nvSpPr>
            <p:cNvPr id="347" name="Worker"/>
            <p:cNvSpPr/>
            <p:nvPr/>
          </p:nvSpPr>
          <p:spPr>
            <a:xfrm>
              <a:off x="0" y="4439279"/>
              <a:ext cx="2540000" cy="3810001"/>
            </a:xfrm>
            <a:prstGeom prst="roundRect">
              <a:avLst>
                <a:gd name="adj" fmla="val 20084"/>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Worker</a:t>
              </a:r>
            </a:p>
          </p:txBody>
        </p:sp>
        <p:sp>
          <p:nvSpPr>
            <p:cNvPr id="348" name="Arrow"/>
            <p:cNvSpPr/>
            <p:nvPr/>
          </p:nvSpPr>
          <p:spPr>
            <a:xfrm>
              <a:off x="2742258" y="254000"/>
              <a:ext cx="1270001" cy="1270000"/>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sp>
          <p:nvSpPr>
            <p:cNvPr id="349" name="Arrow"/>
            <p:cNvSpPr/>
            <p:nvPr/>
          </p:nvSpPr>
          <p:spPr>
            <a:xfrm>
              <a:off x="2742258" y="4694093"/>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sp>
          <p:nvSpPr>
            <p:cNvPr id="350" name="Arrow"/>
            <p:cNvSpPr/>
            <p:nvPr/>
          </p:nvSpPr>
          <p:spPr>
            <a:xfrm>
              <a:off x="2742258" y="2284372"/>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sp>
          <p:nvSpPr>
            <p:cNvPr id="351" name="Arrow"/>
            <p:cNvSpPr/>
            <p:nvPr/>
          </p:nvSpPr>
          <p:spPr>
            <a:xfrm>
              <a:off x="2742258" y="6724465"/>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34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35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4" fill="hold">
                                  <p:stCondLst>
                                    <p:cond delay="0"/>
                                  </p:stCondLst>
                                  <p:iterate type="el" backwards="0">
                                    <p:tmAbs val="0"/>
                                  </p:iterate>
                                  <p:childTnLst>
                                    <p:set>
                                      <p:cBhvr>
                                        <p:cTn id="18" fill="hold"/>
                                        <p:tgtEl>
                                          <p:spTgt spid="34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52" grpId="3"/>
      <p:bldP build="whole" bldLvl="1" animBg="1" rev="0" advAuto="0" spid="345" grpId="4"/>
      <p:bldP build="whole" bldLvl="1" animBg="1" rev="0" advAuto="0" spid="336" grpId="1"/>
      <p:bldP build="whole" bldLvl="1" animBg="1" rev="0" advAuto="0" spid="340" grpId="2"/>
    </p:bldLst>
  </p:timing>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56" name="Overview"/>
          <p:cNvSpPr txBox="1"/>
          <p:nvPr>
            <p:ph type="title"/>
          </p:nvPr>
        </p:nvSpPr>
        <p:spPr>
          <a:prstGeom prst="rect">
            <a:avLst/>
          </a:prstGeom>
        </p:spPr>
        <p:txBody>
          <a:bodyPr/>
          <a:lstStyle/>
          <a:p>
            <a:pPr/>
            <a:r>
              <a:t>Overview</a:t>
            </a:r>
          </a:p>
        </p:txBody>
      </p:sp>
      <p:sp>
        <p:nvSpPr>
          <p:cNvPr id="357" name="Apache DataFusion Comet"/>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 Comet</a:t>
            </a:r>
          </a:p>
        </p:txBody>
      </p:sp>
      <p:sp>
        <p:nvSpPr>
          <p:cNvPr id="358" name="Apache Spark accelerator based on Apache DataFusion…"/>
          <p:cNvSpPr txBox="1"/>
          <p:nvPr>
            <p:ph type="body" idx="1"/>
          </p:nvPr>
        </p:nvSpPr>
        <p:spPr>
          <a:prstGeom prst="rect">
            <a:avLst/>
          </a:prstGeom>
        </p:spPr>
        <p:txBody>
          <a:bodyPr/>
          <a:lstStyle/>
          <a:p>
            <a:pPr/>
            <a:r>
              <a:t>Apache Spark accelerator based on Apache DataFusion</a:t>
            </a:r>
          </a:p>
          <a:p>
            <a:pPr/>
            <a:r>
              <a:t>Accelerate shuffle, data loading, operators, expressions, and functions</a:t>
            </a:r>
          </a:p>
          <a:p>
            <a:pPr/>
            <a:r>
              <a:t>Fall back to Spark for unsupported operations</a:t>
            </a:r>
          </a:p>
          <a:p>
            <a:pPr/>
            <a:r>
              <a:t>Compatible with Spark 3.3, 3.4, 3.5. Experimental support for 4.0</a:t>
            </a:r>
          </a:p>
          <a:p>
            <a:pPr/>
            <a:r>
              <a:t>Donated to The Apache Software Foundation in February 2024</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58">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35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35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el" backwards="0">
                                    <p:tmAbs val="0"/>
                                  </p:iterate>
                                  <p:childTnLst>
                                    <p:set>
                                      <p:cBhvr>
                                        <p:cTn id="16" fill="hold"/>
                                        <p:tgtEl>
                                          <p:spTgt spid="35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1" fill="hold">
                                  <p:stCondLst>
                                    <p:cond delay="0"/>
                                  </p:stCondLst>
                                  <p:iterate type="el" backwards="0">
                                    <p:tmAbs val="0"/>
                                  </p:iterate>
                                  <p:childTnLst>
                                    <p:set>
                                      <p:cBhvr>
                                        <p:cTn id="20" fill="hold"/>
                                        <p:tgtEl>
                                          <p:spTgt spid="358">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1" fill="hold">
                                  <p:stCondLst>
                                    <p:cond delay="0"/>
                                  </p:stCondLst>
                                  <p:iterate type="el" backwards="0">
                                    <p:tmAbs val="0"/>
                                  </p:iterate>
                                  <p:childTnLst>
                                    <p:set>
                                      <p:cBhvr>
                                        <p:cTn id="24" fill="hold"/>
                                        <p:tgtEl>
                                          <p:spTgt spid="358">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358" grpId="1"/>
    </p:bldLst>
  </p:timing>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0" name="Apache Spark"/>
          <p:cNvSpPr txBox="1"/>
          <p:nvPr>
            <p:ph type="title"/>
          </p:nvPr>
        </p:nvSpPr>
        <p:spPr>
          <a:prstGeom prst="rect">
            <a:avLst/>
          </a:prstGeom>
        </p:spPr>
        <p:txBody>
          <a:bodyPr/>
          <a:lstStyle/>
          <a:p>
            <a:pPr/>
            <a:r>
              <a:t>Apache Spark</a:t>
            </a:r>
          </a:p>
        </p:txBody>
      </p:sp>
      <p:sp>
        <p:nvSpPr>
          <p:cNvPr id="361" name="Apache DataFusion Comet"/>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 Comet</a:t>
            </a:r>
          </a:p>
        </p:txBody>
      </p:sp>
      <p:grpSp>
        <p:nvGrpSpPr>
          <p:cNvPr id="365" name="Group"/>
          <p:cNvGrpSpPr/>
          <p:nvPr/>
        </p:nvGrpSpPr>
        <p:grpSpPr>
          <a:xfrm>
            <a:off x="9237456" y="4249082"/>
            <a:ext cx="4015046" cy="8128170"/>
            <a:chOff x="0" y="0"/>
            <a:chExt cx="4015045" cy="8128168"/>
          </a:xfrm>
        </p:grpSpPr>
        <p:sp>
          <p:nvSpPr>
            <p:cNvPr id="362" name="Scheduler"/>
            <p:cNvSpPr/>
            <p:nvPr/>
          </p:nvSpPr>
          <p:spPr>
            <a:xfrm>
              <a:off x="0" y="0"/>
              <a:ext cx="2545572" cy="8128169"/>
            </a:xfrm>
            <a:prstGeom prst="roundRect">
              <a:avLst>
                <a:gd name="adj" fmla="val 15503"/>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Scheduler</a:t>
              </a:r>
            </a:p>
          </p:txBody>
        </p:sp>
        <p:sp>
          <p:nvSpPr>
            <p:cNvPr id="363" name="Arrow"/>
            <p:cNvSpPr/>
            <p:nvPr/>
          </p:nvSpPr>
          <p:spPr>
            <a:xfrm>
              <a:off x="2745045" y="5714854"/>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sp>
          <p:nvSpPr>
            <p:cNvPr id="364" name="Arrow"/>
            <p:cNvSpPr/>
            <p:nvPr/>
          </p:nvSpPr>
          <p:spPr>
            <a:xfrm>
              <a:off x="2745045" y="1275574"/>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grpSp>
      <p:grpSp>
        <p:nvGrpSpPr>
          <p:cNvPr id="372" name="Group"/>
          <p:cNvGrpSpPr/>
          <p:nvPr/>
        </p:nvGrpSpPr>
        <p:grpSpPr>
          <a:xfrm>
            <a:off x="13451975" y="4254657"/>
            <a:ext cx="4012260" cy="8249280"/>
            <a:chOff x="0" y="0"/>
            <a:chExt cx="4012258" cy="8249279"/>
          </a:xfrm>
        </p:grpSpPr>
        <p:sp>
          <p:nvSpPr>
            <p:cNvPr id="366" name="Worker"/>
            <p:cNvSpPr/>
            <p:nvPr/>
          </p:nvSpPr>
          <p:spPr>
            <a:xfrm>
              <a:off x="0" y="0"/>
              <a:ext cx="2540000" cy="3810000"/>
            </a:xfrm>
            <a:prstGeom prst="roundRect">
              <a:avLst>
                <a:gd name="adj" fmla="val 20084"/>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Worker</a:t>
              </a:r>
            </a:p>
          </p:txBody>
        </p:sp>
        <p:sp>
          <p:nvSpPr>
            <p:cNvPr id="367" name="Worker"/>
            <p:cNvSpPr/>
            <p:nvPr/>
          </p:nvSpPr>
          <p:spPr>
            <a:xfrm>
              <a:off x="0" y="4439279"/>
              <a:ext cx="2540000" cy="3810001"/>
            </a:xfrm>
            <a:prstGeom prst="roundRect">
              <a:avLst>
                <a:gd name="adj" fmla="val 20084"/>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ctr">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Worker</a:t>
              </a:r>
            </a:p>
          </p:txBody>
        </p:sp>
        <p:sp>
          <p:nvSpPr>
            <p:cNvPr id="368" name="Arrow"/>
            <p:cNvSpPr/>
            <p:nvPr/>
          </p:nvSpPr>
          <p:spPr>
            <a:xfrm>
              <a:off x="2742258" y="254000"/>
              <a:ext cx="1270001" cy="1270000"/>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sp>
          <p:nvSpPr>
            <p:cNvPr id="369" name="Arrow"/>
            <p:cNvSpPr/>
            <p:nvPr/>
          </p:nvSpPr>
          <p:spPr>
            <a:xfrm>
              <a:off x="2742258" y="4694093"/>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sp>
          <p:nvSpPr>
            <p:cNvPr id="370" name="Arrow"/>
            <p:cNvSpPr/>
            <p:nvPr/>
          </p:nvSpPr>
          <p:spPr>
            <a:xfrm>
              <a:off x="2742258" y="2284372"/>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sp>
          <p:nvSpPr>
            <p:cNvPr id="371" name="Arrow"/>
            <p:cNvSpPr/>
            <p:nvPr/>
          </p:nvSpPr>
          <p:spPr>
            <a:xfrm>
              <a:off x="2742258" y="6724465"/>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grpSp>
      <p:grpSp>
        <p:nvGrpSpPr>
          <p:cNvPr id="380" name="Group"/>
          <p:cNvGrpSpPr/>
          <p:nvPr/>
        </p:nvGrpSpPr>
        <p:grpSpPr>
          <a:xfrm>
            <a:off x="2907504" y="6489137"/>
            <a:ext cx="6130480" cy="3648060"/>
            <a:chOff x="0" y="0"/>
            <a:chExt cx="6130478" cy="3648059"/>
          </a:xfrm>
        </p:grpSpPr>
        <p:grpSp>
          <p:nvGrpSpPr>
            <p:cNvPr id="378" name="Group"/>
            <p:cNvGrpSpPr/>
            <p:nvPr/>
          </p:nvGrpSpPr>
          <p:grpSpPr>
            <a:xfrm>
              <a:off x="0" y="0"/>
              <a:ext cx="6130479" cy="3648060"/>
              <a:chOff x="0" y="0"/>
              <a:chExt cx="6130478" cy="3648059"/>
            </a:xfrm>
          </p:grpSpPr>
          <p:grpSp>
            <p:nvGrpSpPr>
              <p:cNvPr id="376" name="Group"/>
              <p:cNvGrpSpPr/>
              <p:nvPr/>
            </p:nvGrpSpPr>
            <p:grpSpPr>
              <a:xfrm>
                <a:off x="0" y="0"/>
                <a:ext cx="4661005" cy="3648060"/>
                <a:chOff x="0" y="0"/>
                <a:chExt cx="4661004" cy="3648059"/>
              </a:xfrm>
            </p:grpSpPr>
            <p:sp>
              <p:nvSpPr>
                <p:cNvPr id="373" name="Application"/>
                <p:cNvSpPr/>
                <p:nvPr/>
              </p:nvSpPr>
              <p:spPr>
                <a:xfrm>
                  <a:off x="0" y="0"/>
                  <a:ext cx="4661005" cy="3648060"/>
                </a:xfrm>
                <a:prstGeom prst="roundRect">
                  <a:avLst>
                    <a:gd name="adj" fmla="val 15000"/>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Application</a:t>
                  </a:r>
                </a:p>
              </p:txBody>
            </p:sp>
            <p:sp>
              <p:nvSpPr>
                <p:cNvPr id="374" name="Driver"/>
                <p:cNvSpPr/>
                <p:nvPr/>
              </p:nvSpPr>
              <p:spPr>
                <a:xfrm>
                  <a:off x="245686" y="1089475"/>
                  <a:ext cx="4169632" cy="2365443"/>
                </a:xfrm>
                <a:prstGeom prst="roundRect">
                  <a:avLst>
                    <a:gd name="adj" fmla="val 23133"/>
                  </a:avLst>
                </a:prstGeom>
                <a:solidFill>
                  <a:srgbClr val="FFFFFF"/>
                </a:solidFill>
                <a:ln w="12700" cap="flat">
                  <a:solidFill>
                    <a:srgbClr val="000000"/>
                  </a:solidFill>
                  <a:prstDash val="solid"/>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Driver</a:t>
                  </a:r>
                </a:p>
              </p:txBody>
            </p:sp>
            <p:pic>
              <p:nvPicPr>
                <p:cNvPr id="375" name="Apache_Spark_logo.svg" descr="Apache_Spark_logo.svg"/>
                <p:cNvPicPr>
                  <a:picLocks noChangeAspect="1"/>
                </p:cNvPicPr>
                <p:nvPr/>
              </p:nvPicPr>
              <p:blipFill>
                <a:blip r:embed="rId3">
                  <a:extLst/>
                </a:blip>
                <a:stretch>
                  <a:fillRect/>
                </a:stretch>
              </p:blipFill>
              <p:spPr>
                <a:xfrm>
                  <a:off x="1596855" y="1633372"/>
                  <a:ext cx="1467294" cy="762001"/>
                </a:xfrm>
                <a:prstGeom prst="rect">
                  <a:avLst/>
                </a:prstGeom>
                <a:ln w="12700" cap="flat">
                  <a:noFill/>
                  <a:miter lim="400000"/>
                </a:ln>
                <a:effectLst/>
              </p:spPr>
            </p:pic>
          </p:grpSp>
          <p:sp>
            <p:nvSpPr>
              <p:cNvPr id="377" name="Arrow"/>
              <p:cNvSpPr/>
              <p:nvPr/>
            </p:nvSpPr>
            <p:spPr>
              <a:xfrm>
                <a:off x="4860478" y="1189029"/>
                <a:ext cx="1270001" cy="1270001"/>
              </a:xfrm>
              <a:prstGeom prst="rightArrow">
                <a:avLst>
                  <a:gd name="adj1" fmla="val 32000"/>
                  <a:gd name="adj2" fmla="val 64000"/>
                </a:avLst>
              </a:prstGeom>
              <a:solidFill>
                <a:srgbClr val="FFFFFF"/>
              </a:solidFill>
              <a:ln w="12700" cap="flat">
                <a:noFill/>
                <a:miter lim="400000"/>
              </a:ln>
              <a:effectLst/>
            </p:spPr>
            <p:txBody>
              <a:bodyPr wrap="square" lIns="50800" tIns="50800" rIns="50800" bIns="50800" numCol="1" anchor="ctr">
                <a:noAutofit/>
              </a:bodyPr>
              <a:lstStyle/>
              <a:p>
                <a: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pPr>
              </a:p>
            </p:txBody>
          </p:sp>
        </p:grpSp>
        <p:pic>
          <p:nvPicPr>
            <p:cNvPr id="379" name="DataFusionComet-Logo-Light.png" descr="DataFusionComet-Logo-Light.png"/>
            <p:cNvPicPr>
              <a:picLocks noChangeAspect="1"/>
            </p:cNvPicPr>
            <p:nvPr/>
          </p:nvPicPr>
          <p:blipFill>
            <a:blip r:embed="rId4">
              <a:extLst/>
            </a:blip>
            <a:stretch>
              <a:fillRect/>
            </a:stretch>
          </p:blipFill>
          <p:spPr>
            <a:xfrm>
              <a:off x="734690" y="2438144"/>
              <a:ext cx="3191624" cy="762001"/>
            </a:xfrm>
            <a:prstGeom prst="rect">
              <a:avLst/>
            </a:prstGeom>
            <a:ln w="12700" cap="flat">
              <a:noFill/>
              <a:miter lim="400000"/>
            </a:ln>
            <a:effectLst/>
          </p:spPr>
        </p:pic>
      </p:grpSp>
      <p:grpSp>
        <p:nvGrpSpPr>
          <p:cNvPr id="389" name="Group"/>
          <p:cNvGrpSpPr/>
          <p:nvPr/>
        </p:nvGrpSpPr>
        <p:grpSpPr>
          <a:xfrm>
            <a:off x="17660923" y="4254657"/>
            <a:ext cx="3815573" cy="8261166"/>
            <a:chOff x="0" y="0"/>
            <a:chExt cx="3815571" cy="8261165"/>
          </a:xfrm>
        </p:grpSpPr>
        <p:sp>
          <p:nvSpPr>
            <p:cNvPr id="381" name="Executor"/>
            <p:cNvSpPr/>
            <p:nvPr/>
          </p:nvSpPr>
          <p:spPr>
            <a:xfrm>
              <a:off x="5571" y="0"/>
              <a:ext cx="3810001" cy="1778000"/>
            </a:xfrm>
            <a:prstGeom prst="roundRect">
              <a:avLst>
                <a:gd name="adj" fmla="val 28692"/>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Executor</a:t>
              </a:r>
            </a:p>
          </p:txBody>
        </p:sp>
        <p:sp>
          <p:nvSpPr>
            <p:cNvPr id="382" name="Executor"/>
            <p:cNvSpPr/>
            <p:nvPr/>
          </p:nvSpPr>
          <p:spPr>
            <a:xfrm>
              <a:off x="5571" y="2030372"/>
              <a:ext cx="3810001" cy="1778001"/>
            </a:xfrm>
            <a:prstGeom prst="roundRect">
              <a:avLst>
                <a:gd name="adj" fmla="val 28692"/>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Executor</a:t>
              </a:r>
            </a:p>
          </p:txBody>
        </p:sp>
        <p:sp>
          <p:nvSpPr>
            <p:cNvPr id="383" name="Executor"/>
            <p:cNvSpPr/>
            <p:nvPr/>
          </p:nvSpPr>
          <p:spPr>
            <a:xfrm>
              <a:off x="0" y="4440093"/>
              <a:ext cx="3810000" cy="1778001"/>
            </a:xfrm>
            <a:prstGeom prst="roundRect">
              <a:avLst>
                <a:gd name="adj" fmla="val 28692"/>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Executor</a:t>
              </a:r>
            </a:p>
          </p:txBody>
        </p:sp>
        <p:sp>
          <p:nvSpPr>
            <p:cNvPr id="384" name="Executor"/>
            <p:cNvSpPr/>
            <p:nvPr/>
          </p:nvSpPr>
          <p:spPr>
            <a:xfrm>
              <a:off x="0" y="6483165"/>
              <a:ext cx="3810000" cy="1778001"/>
            </a:xfrm>
            <a:prstGeom prst="roundRect">
              <a:avLst>
                <a:gd name="adj" fmla="val 28692"/>
              </a:avLst>
            </a:prstGeom>
            <a:solidFill>
              <a:srgbClr val="FFFFFF"/>
            </a:solidFill>
            <a:ln w="12700" cap="flat">
              <a:noFill/>
              <a:miter lim="400000"/>
            </a:ln>
            <a:effectLst/>
            <a:extLst>
              <a:ext uri="{C572A759-6A51-4108-AA02-DFA0A04FC94B}">
                <ma14:wrappingTextBoxFlag xmlns:ma14="http://schemas.microsoft.com/office/mac/drawingml/2011/main" val="1"/>
              </a:ext>
            </a:extLst>
          </p:spPr>
          <p:txBody>
            <a:bodyPr wrap="square" lIns="50800" tIns="50800" rIns="50800" bIns="50800" numCol="1" anchor="t">
              <a:noAutofit/>
            </a:bodyPr>
            <a:lstStyle>
              <a:lvl1pPr algn="ctr" defTabSz="825500">
                <a:lnSpc>
                  <a:spcPct val="100000"/>
                </a:lnSpc>
                <a:spcBef>
                  <a:spcPts val="0"/>
                </a:spcBef>
                <a:defRPr sz="3200">
                  <a:solidFill>
                    <a:srgbClr val="000000"/>
                  </a:solidFill>
                  <a:latin typeface="Helvetica Neue Medium"/>
                  <a:ea typeface="Helvetica Neue Medium"/>
                  <a:cs typeface="Helvetica Neue Medium"/>
                  <a:sym typeface="Helvetica Neue Medium"/>
                </a:defRPr>
              </a:lvl1pPr>
            </a:lstStyle>
            <a:p>
              <a:pPr/>
              <a:r>
                <a:t>Executor</a:t>
              </a:r>
            </a:p>
          </p:txBody>
        </p:sp>
        <p:pic>
          <p:nvPicPr>
            <p:cNvPr id="385" name="DataFusionComet-Logo-Light.png" descr="DataFusionComet-Logo-Light.png"/>
            <p:cNvPicPr>
              <a:picLocks noChangeAspect="1"/>
            </p:cNvPicPr>
            <p:nvPr/>
          </p:nvPicPr>
          <p:blipFill>
            <a:blip r:embed="rId4">
              <a:extLst/>
            </a:blip>
            <a:stretch>
              <a:fillRect/>
            </a:stretch>
          </p:blipFill>
          <p:spPr>
            <a:xfrm>
              <a:off x="314760" y="703314"/>
              <a:ext cx="3191624" cy="762001"/>
            </a:xfrm>
            <a:prstGeom prst="rect">
              <a:avLst/>
            </a:prstGeom>
            <a:ln w="12700" cap="flat">
              <a:noFill/>
              <a:miter lim="400000"/>
            </a:ln>
            <a:effectLst/>
          </p:spPr>
        </p:pic>
        <p:pic>
          <p:nvPicPr>
            <p:cNvPr id="386" name="DataFusionComet-Logo-Light.png" descr="DataFusionComet-Logo-Light.png"/>
            <p:cNvPicPr>
              <a:picLocks noChangeAspect="1"/>
            </p:cNvPicPr>
            <p:nvPr/>
          </p:nvPicPr>
          <p:blipFill>
            <a:blip r:embed="rId4">
              <a:extLst/>
            </a:blip>
            <a:stretch>
              <a:fillRect/>
            </a:stretch>
          </p:blipFill>
          <p:spPr>
            <a:xfrm>
              <a:off x="314760" y="2728046"/>
              <a:ext cx="3191624" cy="762001"/>
            </a:xfrm>
            <a:prstGeom prst="rect">
              <a:avLst/>
            </a:prstGeom>
            <a:ln w="12700" cap="flat">
              <a:noFill/>
              <a:miter lim="400000"/>
            </a:ln>
            <a:effectLst/>
          </p:spPr>
        </p:pic>
        <p:pic>
          <p:nvPicPr>
            <p:cNvPr id="387" name="DataFusionComet-Logo-Light.png" descr="DataFusionComet-Logo-Light.png"/>
            <p:cNvPicPr>
              <a:picLocks noChangeAspect="1"/>
            </p:cNvPicPr>
            <p:nvPr/>
          </p:nvPicPr>
          <p:blipFill>
            <a:blip r:embed="rId4">
              <a:extLst/>
            </a:blip>
            <a:stretch>
              <a:fillRect/>
            </a:stretch>
          </p:blipFill>
          <p:spPr>
            <a:xfrm>
              <a:off x="314760" y="5143342"/>
              <a:ext cx="3191624" cy="762001"/>
            </a:xfrm>
            <a:prstGeom prst="rect">
              <a:avLst/>
            </a:prstGeom>
            <a:ln w="12700" cap="flat">
              <a:noFill/>
              <a:miter lim="400000"/>
            </a:ln>
            <a:effectLst/>
          </p:spPr>
        </p:pic>
        <p:pic>
          <p:nvPicPr>
            <p:cNvPr id="388" name="DataFusionComet-Logo-Light.png" descr="DataFusionComet-Logo-Light.png"/>
            <p:cNvPicPr>
              <a:picLocks noChangeAspect="1"/>
            </p:cNvPicPr>
            <p:nvPr/>
          </p:nvPicPr>
          <p:blipFill>
            <a:blip r:embed="rId4">
              <a:extLst/>
            </a:blip>
            <a:stretch>
              <a:fillRect/>
            </a:stretch>
          </p:blipFill>
          <p:spPr>
            <a:xfrm>
              <a:off x="314760" y="7175342"/>
              <a:ext cx="3191624" cy="762001"/>
            </a:xfrm>
            <a:prstGeom prst="rect">
              <a:avLst/>
            </a:prstGeom>
            <a:ln w="12700" cap="flat">
              <a:noFill/>
              <a:miter lim="400000"/>
            </a:ln>
            <a:effectLst/>
          </p:spPr>
        </p:pic>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8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2" fill="hold">
                                  <p:stCondLst>
                                    <p:cond delay="0"/>
                                  </p:stCondLst>
                                  <p:iterate type="el" backwards="0">
                                    <p:tmAbs val="0"/>
                                  </p:iterate>
                                  <p:childTnLst>
                                    <p:set>
                                      <p:cBhvr>
                                        <p:cTn id="10" fill="hold"/>
                                        <p:tgtEl>
                                          <p:spTgt spid="36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3" fill="hold">
                                  <p:stCondLst>
                                    <p:cond delay="0"/>
                                  </p:stCondLst>
                                  <p:iterate type="el" backwards="0">
                                    <p:tmAbs val="0"/>
                                  </p:iterate>
                                  <p:childTnLst>
                                    <p:set>
                                      <p:cBhvr>
                                        <p:cTn id="14" fill="hold"/>
                                        <p:tgtEl>
                                          <p:spTgt spid="37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4" fill="hold">
                                  <p:stCondLst>
                                    <p:cond delay="0"/>
                                  </p:stCondLst>
                                  <p:iterate type="el" backwards="0">
                                    <p:tmAbs val="0"/>
                                  </p:iterate>
                                  <p:childTnLst>
                                    <p:set>
                                      <p:cBhvr>
                                        <p:cTn id="18" fill="hold"/>
                                        <p:tgtEl>
                                          <p:spTgt spid="3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whole" bldLvl="1" animBg="1" rev="0" advAuto="0" spid="380" grpId="1"/>
      <p:bldP build="whole" bldLvl="1" animBg="1" rev="0" advAuto="0" spid="365" grpId="2"/>
      <p:bldP build="whole" bldLvl="1" animBg="1" rev="0" advAuto="0" spid="389" grpId="4"/>
      <p:bldP build="whole" bldLvl="1" animBg="1" rev="0" advAuto="0" spid="372" grpId="3"/>
    </p:bldLst>
  </p:timing>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3" name="Databricks Photon"/>
          <p:cNvSpPr txBox="1"/>
          <p:nvPr>
            <p:ph type="title"/>
          </p:nvPr>
        </p:nvSpPr>
        <p:spPr>
          <a:prstGeom prst="rect">
            <a:avLst/>
          </a:prstGeom>
        </p:spPr>
        <p:txBody>
          <a:bodyPr/>
          <a:lstStyle/>
          <a:p>
            <a:pPr/>
            <a:r>
              <a:t>Databricks Photon</a:t>
            </a:r>
          </a:p>
        </p:txBody>
      </p:sp>
      <p:sp>
        <p:nvSpPr>
          <p:cNvPr id="394" name="Apache DataFusion Comet"/>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 Comet</a:t>
            </a:r>
          </a:p>
        </p:txBody>
      </p:sp>
      <p:sp>
        <p:nvSpPr>
          <p:cNvPr id="395" name="Apache Spark accelerator for Databricks…"/>
          <p:cNvSpPr txBox="1"/>
          <p:nvPr>
            <p:ph type="body" idx="1"/>
          </p:nvPr>
        </p:nvSpPr>
        <p:spPr>
          <a:prstGeom prst="rect">
            <a:avLst/>
          </a:prstGeom>
        </p:spPr>
        <p:txBody>
          <a:bodyPr/>
          <a:lstStyle/>
          <a:p>
            <a:pPr/>
            <a:r>
              <a:t>Apache Spark accelerator for Databricks</a:t>
            </a:r>
          </a:p>
          <a:p>
            <a:pPr/>
            <a:r>
              <a:t>Vectorized C++ engine</a:t>
            </a:r>
          </a:p>
          <a:p>
            <a:pPr/>
            <a:r>
              <a:t>Discusses design trade-offs:</a:t>
            </a:r>
          </a:p>
          <a:p>
            <a:pPr lvl="1"/>
            <a:r>
              <a:t>JIT compilation vs. interpretation</a:t>
            </a:r>
          </a:p>
          <a:p>
            <a:pPr lvl="1"/>
            <a:r>
              <a:t>Validity bitmaps vs. position vectors</a:t>
            </a:r>
          </a:p>
        </p:txBody>
      </p:sp>
      <p:pic>
        <p:nvPicPr>
          <p:cNvPr id="396" name="sigmod_photon.png" descr="sigmod_photon.png"/>
          <p:cNvPicPr>
            <a:picLocks noChangeAspect="1"/>
          </p:cNvPicPr>
          <p:nvPr/>
        </p:nvPicPr>
        <p:blipFill>
          <a:blip r:embed="rId3">
            <a:extLst/>
          </a:blip>
          <a:stretch>
            <a:fillRect/>
          </a:stretch>
        </p:blipFill>
        <p:spPr>
          <a:xfrm>
            <a:off x="14325600" y="2540000"/>
            <a:ext cx="8243455" cy="10668000"/>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395">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39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39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el" backwards="0">
                                    <p:tmAbs val="0"/>
                                  </p:iterate>
                                  <p:childTnLst>
                                    <p:set>
                                      <p:cBhvr>
                                        <p:cTn id="16" fill="hold"/>
                                        <p:tgtEl>
                                          <p:spTgt spid="395">
                                            <p:txEl>
                                              <p:pRg st="2" end="2"/>
                                            </p:txEl>
                                          </p:spTgt>
                                        </p:tgtEl>
                                        <p:attrNameLst>
                                          <p:attrName>style.visibility</p:attrName>
                                        </p:attrNameLst>
                                      </p:cBhvr>
                                      <p:to>
                                        <p:strVal val="visible"/>
                                      </p:to>
                                    </p:set>
                                  </p:childTnLst>
                                </p:cTn>
                              </p:par>
                              <p:par>
                                <p:cTn id="17" presetClass="entr" nodeType="withEffect" presetSubtype="0" presetID="1" grpId="1" fill="hold">
                                  <p:stCondLst>
                                    <p:cond delay="0"/>
                                  </p:stCondLst>
                                  <p:iterate type="el" backwards="0">
                                    <p:tmAbs val="0"/>
                                  </p:iterate>
                                  <p:childTnLst>
                                    <p:set>
                                      <p:cBhvr>
                                        <p:cTn id="18" fill="hold"/>
                                        <p:tgtEl>
                                          <p:spTgt spid="395">
                                            <p:txEl>
                                              <p:pRg st="3" end="3"/>
                                            </p:txEl>
                                          </p:spTgt>
                                        </p:tgtEl>
                                        <p:attrNameLst>
                                          <p:attrName>style.visibility</p:attrName>
                                        </p:attrNameLst>
                                      </p:cBhvr>
                                      <p:to>
                                        <p:strVal val="visible"/>
                                      </p:to>
                                    </p:set>
                                  </p:childTnLst>
                                </p:cTn>
                              </p:par>
                              <p:par>
                                <p:cTn id="19" presetClass="entr" nodeType="withEffect" presetSubtype="0" presetID="1" grpId="1" fill="hold">
                                  <p:stCondLst>
                                    <p:cond delay="0"/>
                                  </p:stCondLst>
                                  <p:iterate type="el" backwards="0">
                                    <p:tmAbs val="0"/>
                                  </p:iterate>
                                  <p:childTnLst>
                                    <p:set>
                                      <p:cBhvr>
                                        <p:cTn id="20" fill="hold"/>
                                        <p:tgtEl>
                                          <p:spTgt spid="395">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395" grpId="1"/>
    </p:bldLst>
  </p:timing>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0" name="Challenges"/>
          <p:cNvSpPr txBox="1"/>
          <p:nvPr>
            <p:ph type="title"/>
          </p:nvPr>
        </p:nvSpPr>
        <p:spPr>
          <a:prstGeom prst="rect">
            <a:avLst/>
          </a:prstGeom>
        </p:spPr>
        <p:txBody>
          <a:bodyPr/>
          <a:lstStyle/>
          <a:p>
            <a:pPr/>
            <a:r>
              <a:t>Challenges</a:t>
            </a:r>
          </a:p>
        </p:txBody>
      </p:sp>
      <p:sp>
        <p:nvSpPr>
          <p:cNvPr id="401" name="Apache DataFusion Comet"/>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 Comet</a:t>
            </a:r>
          </a:p>
        </p:txBody>
      </p:sp>
      <p:sp>
        <p:nvSpPr>
          <p:cNvPr id="402" name="Spark is a moving target:…"/>
          <p:cNvSpPr txBox="1"/>
          <p:nvPr>
            <p:ph type="body" idx="1"/>
          </p:nvPr>
        </p:nvSpPr>
        <p:spPr>
          <a:prstGeom prst="rect">
            <a:avLst/>
          </a:prstGeom>
        </p:spPr>
        <p:txBody>
          <a:bodyPr/>
          <a:lstStyle/>
          <a:p>
            <a:pPr/>
            <a:r>
              <a:t>Spark is a moving target:</a:t>
            </a:r>
          </a:p>
          <a:p>
            <a:pPr lvl="1"/>
            <a:r>
              <a:t>Behavior differences between Spark releases</a:t>
            </a:r>
          </a:p>
          <a:p>
            <a:pPr lvl="1"/>
            <a:r>
              <a:t>Configurations change casting behavior</a:t>
            </a:r>
          </a:p>
          <a:p>
            <a:pPr lvl="1"/>
            <a:r>
              <a:t>ANSI SQL enforced in Spark 4.0</a:t>
            </a:r>
          </a:p>
          <a:p>
            <a:pPr/>
            <a:r>
              <a:t>Data representation differences:</a:t>
            </a:r>
          </a:p>
          <a:p>
            <a:pPr lvl="1"/>
            <a:r>
              <a:t>Spark uses Java’s </a:t>
            </a:r>
            <a:r>
              <a:rPr>
                <a:latin typeface="Andale Mono"/>
                <a:ea typeface="Andale Mono"/>
                <a:cs typeface="Andale Mono"/>
                <a:sym typeface="Andale Mono"/>
              </a:rPr>
              <a:t>BigDecimal</a:t>
            </a:r>
            <a:r>
              <a:t>, Arrow uses </a:t>
            </a:r>
            <a:r>
              <a:rPr>
                <a:latin typeface="Andale Mono"/>
                <a:ea typeface="Andale Mono"/>
                <a:cs typeface="Andale Mono"/>
                <a:sym typeface="Andale Mono"/>
              </a:rPr>
              <a:t>Decimal128</a:t>
            </a:r>
          </a:p>
          <a:p>
            <a:pPr lvl="1"/>
            <a:r>
              <a:t>Spark converts unsigned types to the next size signed type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02">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402">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402">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el" backwards="0">
                                    <p:tmAbs val="0"/>
                                  </p:iterate>
                                  <p:childTnLst>
                                    <p:set>
                                      <p:cBhvr>
                                        <p:cTn id="16" fill="hold"/>
                                        <p:tgtEl>
                                          <p:spTgt spid="402">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1" fill="hold">
                                  <p:stCondLst>
                                    <p:cond delay="0"/>
                                  </p:stCondLst>
                                  <p:iterate type="el" backwards="0">
                                    <p:tmAbs val="0"/>
                                  </p:iterate>
                                  <p:childTnLst>
                                    <p:set>
                                      <p:cBhvr>
                                        <p:cTn id="20" fill="hold"/>
                                        <p:tgtEl>
                                          <p:spTgt spid="402">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1" fill="hold">
                                  <p:stCondLst>
                                    <p:cond delay="0"/>
                                  </p:stCondLst>
                                  <p:iterate type="el" backwards="0">
                                    <p:tmAbs val="0"/>
                                  </p:iterate>
                                  <p:childTnLst>
                                    <p:set>
                                      <p:cBhvr>
                                        <p:cTn id="24" fill="hold"/>
                                        <p:tgtEl>
                                          <p:spTgt spid="402">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0" presetID="1" grpId="1" fill="hold">
                                  <p:stCondLst>
                                    <p:cond delay="0"/>
                                  </p:stCondLst>
                                  <p:iterate type="el" backwards="0">
                                    <p:tmAbs val="0"/>
                                  </p:iterate>
                                  <p:childTnLst>
                                    <p:set>
                                      <p:cBhvr>
                                        <p:cTn id="28" fill="hold"/>
                                        <p:tgtEl>
                                          <p:spTgt spid="402">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0" presetID="1" grpId="1" fill="hold">
                                  <p:stCondLst>
                                    <p:cond delay="0"/>
                                  </p:stCondLst>
                                  <p:iterate type="el" backwards="0">
                                    <p:tmAbs val="0"/>
                                  </p:iterate>
                                  <p:childTnLst>
                                    <p:set>
                                      <p:cBhvr>
                                        <p:cTn id="32" fill="hold"/>
                                        <p:tgtEl>
                                          <p:spTgt spid="402">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402" grpId="1"/>
    </p:bldLst>
  </p:timing>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04" name="TPC-H, single-node, partitioned Parquet"/>
          <p:cNvSpPr txBox="1"/>
          <p:nvPr>
            <p:ph type="title"/>
          </p:nvPr>
        </p:nvSpPr>
        <p:spPr>
          <a:prstGeom prst="rect">
            <a:avLst/>
          </a:prstGeom>
        </p:spPr>
        <p:txBody>
          <a:bodyPr/>
          <a:lstStyle/>
          <a:p>
            <a:pPr/>
            <a:r>
              <a:t>TPC-H, single-node, partitioned Parquet</a:t>
            </a:r>
          </a:p>
        </p:txBody>
      </p:sp>
      <p:sp>
        <p:nvSpPr>
          <p:cNvPr id="405" name="Apache DataFusion Comet"/>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 Comet</a:t>
            </a:r>
          </a:p>
        </p:txBody>
      </p:sp>
      <p:sp>
        <p:nvSpPr>
          <p:cNvPr id="406" name="Source: Apache DataFusion Comet 0.5.0 Release"/>
          <p:cNvSpPr txBox="1"/>
          <p:nvPr/>
        </p:nvSpPr>
        <p:spPr>
          <a:xfrm>
            <a:off x="508000" y="12573000"/>
            <a:ext cx="9094928" cy="572821"/>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p>
            <a:pPr>
              <a:defRPr sz="3200">
                <a:solidFill>
                  <a:srgbClr val="A9A9A9"/>
                </a:solidFill>
              </a:defRPr>
            </a:pPr>
            <a:r>
              <a:t>Source: </a:t>
            </a:r>
            <a:r>
              <a:rPr u="sng">
                <a:hlinkClick r:id="rId3" invalidUrl="" action="" tgtFrame="" tooltip="" history="1" highlightClick="0" endSnd="0"/>
              </a:rPr>
              <a:t>Apache DataFusion Comet 0.5.0 Release</a:t>
            </a:r>
          </a:p>
        </p:txBody>
      </p:sp>
      <p:graphicFrame>
        <p:nvGraphicFramePr>
          <p:cNvPr id="407" name="2D Column Chart"/>
          <p:cNvGraphicFramePr/>
          <p:nvPr/>
        </p:nvGraphicFramePr>
        <p:xfrm>
          <a:off x="2881467" y="4485166"/>
          <a:ext cx="16829237" cy="7575291"/>
        </p:xfrm>
        <a:graphic xmlns:a="http://schemas.openxmlformats.org/drawingml/2006/main">
          <a:graphicData uri="http://schemas.openxmlformats.org/drawingml/2006/chart">
            <c:chart xmlns:c="http://schemas.openxmlformats.org/drawingml/2006/chart" r:id="rId4"/>
          </a:graphicData>
        </a:graphic>
      </p:graphicFrame>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childTnLst>
                                    <p:set>
                                      <p:cBhvr>
                                        <p:cTn id="6" fill="hold"/>
                                        <p:tgtEl>
                                          <p:spTgt spid="407">
                                            <p:graphicEl>
                                              <a:chart bldStep="gridLegend" categoryIdx="-3" seriesIdx="-3"/>
                                            </p:graphic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Class="entr" nodeType="clickEffect" presetSubtype="0" presetID="1" grpId="1" fill="hold">
                                  <p:stCondLst>
                                    <p:cond delay="0"/>
                                  </p:stCondLst>
                                  <p:childTnLst>
                                    <p:set>
                                      <p:cBhvr>
                                        <p:cTn id="10" fill="hold"/>
                                        <p:tgtEl>
                                          <p:spTgt spid="407">
                                            <p:graphicEl>
                                              <a:chart bldStep="series" categoryIdx="-4" seriesIdx="0"/>
                                            </p:graphic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Class="entr" nodeType="clickEffect" presetSubtype="0" presetID="1" grpId="1" fill="hold">
                                  <p:stCondLst>
                                    <p:cond delay="0"/>
                                  </p:stCondLst>
                                  <p:childTnLst>
                                    <p:set>
                                      <p:cBhvr>
                                        <p:cTn id="14" fill="hold"/>
                                        <p:tgtEl>
                                          <p:spTgt spid="407">
                                            <p:graphicEl>
                                              <a:chart bldStep="series" categoryIdx="-4" seriesIdx="1"/>
                                            </p:graphic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Graphic spid="407" grpId="1">
        <p:bldSub>
          <a:bldChart bld="series"/>
        </p:bldSub>
      </p:bldGraphic>
    </p:bldLst>
  </p:timing>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1" name="Roadmap"/>
          <p:cNvSpPr txBox="1"/>
          <p:nvPr>
            <p:ph type="title"/>
          </p:nvPr>
        </p:nvSpPr>
        <p:spPr>
          <a:prstGeom prst="rect">
            <a:avLst/>
          </a:prstGeom>
        </p:spPr>
        <p:txBody>
          <a:bodyPr/>
          <a:lstStyle/>
          <a:p>
            <a:pPr/>
            <a:r>
              <a:t>Roadmap</a:t>
            </a:r>
          </a:p>
        </p:txBody>
      </p:sp>
      <p:sp>
        <p:nvSpPr>
          <p:cNvPr id="412" name="Apache DataFusion Comet"/>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Apache DataFusion Comet</a:t>
            </a:r>
          </a:p>
        </p:txBody>
      </p:sp>
      <p:sp>
        <p:nvSpPr>
          <p:cNvPr id="413" name="Add fuzz testing to CI…"/>
          <p:cNvSpPr txBox="1"/>
          <p:nvPr>
            <p:ph type="body" idx="1"/>
          </p:nvPr>
        </p:nvSpPr>
        <p:spPr>
          <a:prstGeom prst="rect">
            <a:avLst/>
          </a:prstGeom>
        </p:spPr>
        <p:txBody>
          <a:bodyPr/>
          <a:lstStyle/>
          <a:p>
            <a:pPr/>
            <a:r>
              <a:rPr u="sng">
                <a:hlinkClick r:id="rId2" invalidUrl="" action="" tgtFrame="" tooltip="" history="1" highlightClick="0" endSnd="0"/>
              </a:rPr>
              <a:t>Add fuzz testing to CI</a:t>
            </a:r>
          </a:p>
          <a:p>
            <a:pPr/>
            <a:r>
              <a:rPr u="sng">
                <a:hlinkClick r:id="rId3" invalidUrl="" action="" tgtFrame="" tooltip="" history="1" highlightClick="0" endSnd="0"/>
              </a:rPr>
              <a:t>Complex Type Support</a:t>
            </a:r>
          </a:p>
          <a:p>
            <a:pPr lvl="1"/>
            <a:r>
              <a:t>e.g., arrays, maps, structs</a:t>
            </a:r>
          </a:p>
          <a:p>
            <a:pPr lvl="1"/>
            <a:r>
              <a:t>Use DataFusion’s Parquet scan instead of Comet Scan</a:t>
            </a:r>
          </a:p>
          <a:p>
            <a:pPr lvl="1"/>
            <a:r>
              <a:t>Support more native functions and expressions</a:t>
            </a:r>
          </a:p>
          <a:p>
            <a:pPr/>
            <a:r>
              <a:t>Explore </a:t>
            </a:r>
            <a:r>
              <a:rPr>
                <a:latin typeface="Andale Mono"/>
                <a:ea typeface="Andale Mono"/>
                <a:cs typeface="Andale Mono"/>
                <a:sym typeface="Andale Mono"/>
              </a:rPr>
              <a:t>StringView</a:t>
            </a:r>
            <a:r>
              <a:t> performance benefits</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13">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413">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413">
                                            <p:txEl>
                                              <p:pRg st="1" end="1"/>
                                            </p:txEl>
                                          </p:spTgt>
                                        </p:tgtEl>
                                        <p:attrNameLst>
                                          <p:attrName>style.visibility</p:attrName>
                                        </p:attrNameLst>
                                      </p:cBhvr>
                                      <p:to>
                                        <p:strVal val="visible"/>
                                      </p:to>
                                    </p:set>
                                  </p:childTnLst>
                                </p:cTn>
                              </p:par>
                              <p:par>
                                <p:cTn id="13" presetClass="entr" nodeType="withEffect" presetSubtype="0" presetID="1" grpId="1" fill="hold">
                                  <p:stCondLst>
                                    <p:cond delay="0"/>
                                  </p:stCondLst>
                                  <p:iterate type="el" backwards="0">
                                    <p:tmAbs val="0"/>
                                  </p:iterate>
                                  <p:childTnLst>
                                    <p:set>
                                      <p:cBhvr>
                                        <p:cTn id="14" fill="hold"/>
                                        <p:tgtEl>
                                          <p:spTgt spid="413">
                                            <p:txEl>
                                              <p:pRg st="2" end="2"/>
                                            </p:txEl>
                                          </p:spTgt>
                                        </p:tgtEl>
                                        <p:attrNameLst>
                                          <p:attrName>style.visibility</p:attrName>
                                        </p:attrNameLst>
                                      </p:cBhvr>
                                      <p:to>
                                        <p:strVal val="visible"/>
                                      </p:to>
                                    </p:set>
                                  </p:childTnLst>
                                </p:cTn>
                              </p:par>
                              <p:par>
                                <p:cTn id="15" presetClass="entr" nodeType="withEffect" presetSubtype="0" presetID="1" grpId="1" fill="hold">
                                  <p:stCondLst>
                                    <p:cond delay="0"/>
                                  </p:stCondLst>
                                  <p:iterate type="el" backwards="0">
                                    <p:tmAbs val="0"/>
                                  </p:iterate>
                                  <p:childTnLst>
                                    <p:set>
                                      <p:cBhvr>
                                        <p:cTn id="16" fill="hold"/>
                                        <p:tgtEl>
                                          <p:spTgt spid="413">
                                            <p:txEl>
                                              <p:pRg st="3" end="3"/>
                                            </p:txEl>
                                          </p:spTgt>
                                        </p:tgtEl>
                                        <p:attrNameLst>
                                          <p:attrName>style.visibility</p:attrName>
                                        </p:attrNameLst>
                                      </p:cBhvr>
                                      <p:to>
                                        <p:strVal val="visible"/>
                                      </p:to>
                                    </p:set>
                                  </p:childTnLst>
                                </p:cTn>
                              </p:par>
                              <p:par>
                                <p:cTn id="17" presetClass="entr" nodeType="withEffect" presetSubtype="0" presetID="1" grpId="1" fill="hold">
                                  <p:stCondLst>
                                    <p:cond delay="0"/>
                                  </p:stCondLst>
                                  <p:iterate type="el" backwards="0">
                                    <p:tmAbs val="0"/>
                                  </p:iterate>
                                  <p:childTnLst>
                                    <p:set>
                                      <p:cBhvr>
                                        <p:cTn id="18" fill="hold"/>
                                        <p:tgtEl>
                                          <p:spTgt spid="41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0" presetID="1" grpId="1" fill="hold">
                                  <p:stCondLst>
                                    <p:cond delay="0"/>
                                  </p:stCondLst>
                                  <p:iterate type="el" backwards="0">
                                    <p:tmAbs val="0"/>
                                  </p:iterate>
                                  <p:childTnLst>
                                    <p:set>
                                      <p:cBhvr>
                                        <p:cTn id="22" fill="hold"/>
                                        <p:tgtEl>
                                          <p:spTgt spid="413">
                                            <p:txEl>
                                              <p:pRg st="5" end="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413" grpId="1"/>
    </p:bldLst>
  </p:timing>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5" name="How to Get Involved"/>
          <p:cNvSpPr txBox="1"/>
          <p:nvPr>
            <p:ph type="title"/>
          </p:nvPr>
        </p:nvSpPr>
        <p:spPr>
          <a:prstGeom prst="rect">
            <a:avLst/>
          </a:prstGeom>
        </p:spPr>
        <p:txBody>
          <a:bodyPr/>
          <a:lstStyle/>
          <a:p>
            <a:pPr/>
            <a:r>
              <a:t>How to Get Involved</a:t>
            </a:r>
          </a:p>
        </p:txBody>
      </p:sp>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17" name="Online Open-Source Communities"/>
          <p:cNvSpPr txBox="1"/>
          <p:nvPr>
            <p:ph type="title"/>
          </p:nvPr>
        </p:nvSpPr>
        <p:spPr>
          <a:prstGeom prst="rect">
            <a:avLst/>
          </a:prstGeom>
        </p:spPr>
        <p:txBody>
          <a:bodyPr/>
          <a:lstStyle/>
          <a:p>
            <a:pPr/>
            <a:r>
              <a:t>Online Open-Source Communities</a:t>
            </a:r>
          </a:p>
        </p:txBody>
      </p:sp>
      <p:sp>
        <p:nvSpPr>
          <p:cNvPr id="418" name="How to Get Involve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How to Get Involved</a:t>
            </a:r>
          </a:p>
        </p:txBody>
      </p:sp>
      <p:sp>
        <p:nvSpPr>
          <p:cNvPr id="419" name="GitHub:…"/>
          <p:cNvSpPr txBox="1"/>
          <p:nvPr>
            <p:ph type="body" idx="1"/>
          </p:nvPr>
        </p:nvSpPr>
        <p:spPr>
          <a:prstGeom prst="rect">
            <a:avLst/>
          </a:prstGeom>
        </p:spPr>
        <p:txBody>
          <a:bodyPr/>
          <a:lstStyle/>
          <a:p>
            <a:pPr/>
            <a:r>
              <a:t>GitHub:</a:t>
            </a:r>
          </a:p>
          <a:p>
            <a:pPr lvl="1"/>
            <a:r>
              <a:rPr u="sng">
                <a:hlinkClick r:id="rId3" invalidUrl="" action="" tgtFrame="" tooltip="" history="1" highlightClick="0" endSnd="0"/>
              </a:rPr>
              <a:t>https://github.com/apache/datafusion</a:t>
            </a:r>
          </a:p>
          <a:p>
            <a:pPr lvl="1"/>
            <a:r>
              <a:rPr u="sng">
                <a:hlinkClick r:id="rId4" invalidUrl="" action="" tgtFrame="" tooltip="" history="1" highlightClick="0" endSnd="0"/>
              </a:rPr>
              <a:t>https://github.com/apache/datafusion-comet</a:t>
            </a:r>
          </a:p>
          <a:p>
            <a:pPr lvl="1"/>
            <a:r>
              <a:rPr u="sng">
                <a:hlinkClick r:id="rId5" invalidUrl="" action="" tgtFrame="" tooltip="" history="1" highlightClick="0" endSnd="0"/>
              </a:rPr>
              <a:t>https://github.com/apache/arrow-rs</a:t>
            </a:r>
          </a:p>
          <a:p>
            <a:pPr/>
            <a:r>
              <a:rPr u="sng">
                <a:hlinkClick r:id="rId6" invalidUrl="" action="" tgtFrame="" tooltip="" history="1" highlightClick="0" endSnd="0"/>
              </a:rPr>
              <a:t>Apache DataFusion Community Meeting</a:t>
            </a:r>
          </a:p>
          <a:p>
            <a:pPr lvl="1"/>
            <a:r>
              <a:t>Wednesdays @ 11am ET</a:t>
            </a:r>
          </a:p>
          <a:p>
            <a:pPr/>
            <a:r>
              <a:t>ASF Slack: </a:t>
            </a:r>
            <a:r>
              <a:rPr u="sng">
                <a:hlinkClick r:id="rId7" invalidUrl="" action="" tgtFrame="" tooltip="" history="1" highlightClick="0" endSnd="0"/>
              </a:rPr>
              <a:t>https://infra.apache.org/slack.html</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19">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419">
                                            <p:txEl>
                                              <p:pRg st="0" end="0"/>
                                            </p:txEl>
                                          </p:spTgt>
                                        </p:tgtEl>
                                        <p:attrNameLst>
                                          <p:attrName>style.visibility</p:attrName>
                                        </p:attrNameLst>
                                      </p:cBhvr>
                                      <p:to>
                                        <p:strVal val="visible"/>
                                      </p:to>
                                    </p:set>
                                  </p:childTnLst>
                                </p:cTn>
                              </p:par>
                              <p:par>
                                <p:cTn id="9" presetClass="entr" nodeType="withEffect" presetSubtype="0" presetID="1" grpId="1" fill="hold">
                                  <p:stCondLst>
                                    <p:cond delay="0"/>
                                  </p:stCondLst>
                                  <p:iterate type="el" backwards="0">
                                    <p:tmAbs val="0"/>
                                  </p:iterate>
                                  <p:childTnLst>
                                    <p:set>
                                      <p:cBhvr>
                                        <p:cTn id="10" fill="hold"/>
                                        <p:tgtEl>
                                          <p:spTgt spid="419">
                                            <p:txEl>
                                              <p:pRg st="1" end="1"/>
                                            </p:txEl>
                                          </p:spTgt>
                                        </p:tgtEl>
                                        <p:attrNameLst>
                                          <p:attrName>style.visibility</p:attrName>
                                        </p:attrNameLst>
                                      </p:cBhvr>
                                      <p:to>
                                        <p:strVal val="visible"/>
                                      </p:to>
                                    </p:set>
                                  </p:childTnLst>
                                </p:cTn>
                              </p:par>
                              <p:par>
                                <p:cTn id="11" presetClass="entr" nodeType="withEffect" presetSubtype="0" presetID="1" grpId="1" fill="hold">
                                  <p:stCondLst>
                                    <p:cond delay="0"/>
                                  </p:stCondLst>
                                  <p:iterate type="el" backwards="0">
                                    <p:tmAbs val="0"/>
                                  </p:iterate>
                                  <p:childTnLst>
                                    <p:set>
                                      <p:cBhvr>
                                        <p:cTn id="12" fill="hold"/>
                                        <p:tgtEl>
                                          <p:spTgt spid="419">
                                            <p:txEl>
                                              <p:pRg st="2" end="2"/>
                                            </p:txEl>
                                          </p:spTgt>
                                        </p:tgtEl>
                                        <p:attrNameLst>
                                          <p:attrName>style.visibility</p:attrName>
                                        </p:attrNameLst>
                                      </p:cBhvr>
                                      <p:to>
                                        <p:strVal val="visible"/>
                                      </p:to>
                                    </p:set>
                                  </p:childTnLst>
                                </p:cTn>
                              </p:par>
                              <p:par>
                                <p:cTn id="13" presetClass="entr" nodeType="withEffect" presetSubtype="0" presetID="1" grpId="1" fill="hold">
                                  <p:stCondLst>
                                    <p:cond delay="0"/>
                                  </p:stCondLst>
                                  <p:iterate type="el" backwards="0">
                                    <p:tmAbs val="0"/>
                                  </p:iterate>
                                  <p:childTnLst>
                                    <p:set>
                                      <p:cBhvr>
                                        <p:cTn id="14" fill="hold"/>
                                        <p:tgtEl>
                                          <p:spTgt spid="419">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1" fill="hold">
                                  <p:stCondLst>
                                    <p:cond delay="0"/>
                                  </p:stCondLst>
                                  <p:iterate type="el" backwards="0">
                                    <p:tmAbs val="0"/>
                                  </p:iterate>
                                  <p:childTnLst>
                                    <p:set>
                                      <p:cBhvr>
                                        <p:cTn id="18" fill="hold"/>
                                        <p:tgtEl>
                                          <p:spTgt spid="419">
                                            <p:txEl>
                                              <p:pRg st="4" end="4"/>
                                            </p:txEl>
                                          </p:spTgt>
                                        </p:tgtEl>
                                        <p:attrNameLst>
                                          <p:attrName>style.visibility</p:attrName>
                                        </p:attrNameLst>
                                      </p:cBhvr>
                                      <p:to>
                                        <p:strVal val="visible"/>
                                      </p:to>
                                    </p:set>
                                  </p:childTnLst>
                                </p:cTn>
                              </p:par>
                              <p:par>
                                <p:cTn id="19" presetClass="entr" nodeType="withEffect" presetSubtype="0" presetID="1" grpId="1" fill="hold">
                                  <p:stCondLst>
                                    <p:cond delay="0"/>
                                  </p:stCondLst>
                                  <p:iterate type="el" backwards="0">
                                    <p:tmAbs val="0"/>
                                  </p:iterate>
                                  <p:childTnLst>
                                    <p:set>
                                      <p:cBhvr>
                                        <p:cTn id="20" fill="hold"/>
                                        <p:tgtEl>
                                          <p:spTgt spid="419">
                                            <p:txEl>
                                              <p:pRg st="5" end="5"/>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1" fill="hold">
                                  <p:stCondLst>
                                    <p:cond delay="0"/>
                                  </p:stCondLst>
                                  <p:iterate type="el" backwards="0">
                                    <p:tmAbs val="0"/>
                                  </p:iterate>
                                  <p:childTnLst>
                                    <p:set>
                                      <p:cBhvr>
                                        <p:cTn id="24" fill="hold"/>
                                        <p:tgtEl>
                                          <p:spTgt spid="419">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419" grpId="1"/>
    </p:bldLst>
  </p:timing>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23" name="Online DBMS Resources"/>
          <p:cNvSpPr txBox="1"/>
          <p:nvPr>
            <p:ph type="title"/>
          </p:nvPr>
        </p:nvSpPr>
        <p:spPr>
          <a:prstGeom prst="rect">
            <a:avLst/>
          </a:prstGeom>
        </p:spPr>
        <p:txBody>
          <a:bodyPr/>
          <a:lstStyle/>
          <a:p>
            <a:pPr/>
            <a:r>
              <a:t>Online DBMS Resources</a:t>
            </a:r>
          </a:p>
        </p:txBody>
      </p:sp>
      <p:sp>
        <p:nvSpPr>
          <p:cNvPr id="424" name="How to Get Involve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How to Get Involved</a:t>
            </a:r>
          </a:p>
        </p:txBody>
      </p:sp>
      <p:sp>
        <p:nvSpPr>
          <p:cNvPr id="425" name="Andy Pavlo @ CMU:…"/>
          <p:cNvSpPr txBox="1"/>
          <p:nvPr>
            <p:ph type="body" idx="1"/>
          </p:nvPr>
        </p:nvSpPr>
        <p:spPr>
          <a:prstGeom prst="rect">
            <a:avLst/>
          </a:prstGeom>
        </p:spPr>
        <p:txBody>
          <a:bodyPr/>
          <a:lstStyle/>
          <a:p>
            <a:pPr/>
            <a:r>
              <a:t>Andy Pavlo @ CMU:</a:t>
            </a:r>
          </a:p>
          <a:p>
            <a:pPr lvl="1"/>
            <a:r>
              <a:rPr u="sng">
                <a:hlinkClick r:id="rId3" invalidUrl="" action="" tgtFrame="" tooltip="" history="1" highlightClick="0" endSnd="0"/>
              </a:rPr>
              <a:t>Intro to DBMSs (15-445)</a:t>
            </a:r>
          </a:p>
          <a:p>
            <a:pPr lvl="1"/>
            <a:r>
              <a:rPr u="sng">
                <a:hlinkClick r:id="rId4" invalidUrl="" action="" tgtFrame="" tooltip="" history="1" highlightClick="0" endSnd="0"/>
              </a:rPr>
              <a:t>Advanced DBMSs (15-721)</a:t>
            </a:r>
          </a:p>
          <a:p>
            <a:pPr lvl="1"/>
            <a:r>
              <a:rPr u="sng">
                <a:hlinkClick r:id="rId5" invalidUrl="" action="" tgtFrame="" tooltip="" history="1" highlightClick="0" endSnd="0"/>
              </a:rPr>
              <a:t>Special Topics (15-799)</a:t>
            </a:r>
            <a:r>
              <a:t>:</a:t>
            </a:r>
          </a:p>
          <a:p>
            <a:pPr lvl="2"/>
            <a:r>
              <a:t>Optimizers, self-driving DBMSs</a:t>
            </a:r>
          </a:p>
          <a:p>
            <a:pPr lvl="1"/>
            <a:r>
              <a:rPr u="sng">
                <a:hlinkClick r:id="rId6" invalidUrl="" action="" tgtFrame="" tooltip="" history="1" highlightClick="0" endSnd="0"/>
              </a:rPr>
              <a:t>CMU-DB YouTube</a:t>
            </a:r>
          </a:p>
          <a:p>
            <a:pPr lvl="2"/>
            <a:r>
              <a:t>Lectures, seminars</a:t>
            </a:r>
          </a:p>
        </p:txBody>
      </p:sp>
      <p:pic>
        <p:nvPicPr>
          <p:cNvPr id="426" name="Pavlo.jpg" descr="Pavlo.jpg"/>
          <p:cNvPicPr>
            <a:picLocks noChangeAspect="1"/>
          </p:cNvPicPr>
          <p:nvPr/>
        </p:nvPicPr>
        <p:blipFill>
          <a:blip r:embed="rId7">
            <a:extLst/>
          </a:blip>
          <a:stretch>
            <a:fillRect/>
          </a:stretch>
        </p:blipFill>
        <p:spPr>
          <a:xfrm>
            <a:off x="13611671" y="3158964"/>
            <a:ext cx="8631439" cy="8631439"/>
          </a:xfrm>
          <a:prstGeom prst="rect">
            <a:avLst/>
          </a:prstGeom>
          <a:ln w="12700">
            <a:miter lim="400000"/>
          </a:ln>
        </p:spPr>
      </p:pic>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25">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425">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425">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el" backwards="0">
                                    <p:tmAbs val="0"/>
                                  </p:iterate>
                                  <p:childTnLst>
                                    <p:set>
                                      <p:cBhvr>
                                        <p:cTn id="16" fill="hold"/>
                                        <p:tgtEl>
                                          <p:spTgt spid="42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1" fill="hold">
                                  <p:stCondLst>
                                    <p:cond delay="0"/>
                                  </p:stCondLst>
                                  <p:iterate type="el" backwards="0">
                                    <p:tmAbs val="0"/>
                                  </p:iterate>
                                  <p:childTnLst>
                                    <p:set>
                                      <p:cBhvr>
                                        <p:cTn id="20" fill="hold"/>
                                        <p:tgtEl>
                                          <p:spTgt spid="425">
                                            <p:txEl>
                                              <p:pRg st="3" end="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Class="entr" nodeType="clickEffect" presetSubtype="0" presetID="1" grpId="1" fill="hold">
                                  <p:stCondLst>
                                    <p:cond delay="0"/>
                                  </p:stCondLst>
                                  <p:iterate type="el" backwards="0">
                                    <p:tmAbs val="0"/>
                                  </p:iterate>
                                  <p:childTnLst>
                                    <p:set>
                                      <p:cBhvr>
                                        <p:cTn id="24" fill="hold"/>
                                        <p:tgtEl>
                                          <p:spTgt spid="425">
                                            <p:txEl>
                                              <p:pRg st="4" end="4"/>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0" presetID="1" grpId="1" fill="hold">
                                  <p:stCondLst>
                                    <p:cond delay="0"/>
                                  </p:stCondLst>
                                  <p:iterate type="el" backwards="0">
                                    <p:tmAbs val="0"/>
                                  </p:iterate>
                                  <p:childTnLst>
                                    <p:set>
                                      <p:cBhvr>
                                        <p:cTn id="28" fill="hold"/>
                                        <p:tgtEl>
                                          <p:spTgt spid="425">
                                            <p:txEl>
                                              <p:pRg st="5" end="5"/>
                                            </p:txEl>
                                          </p:spTgt>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0" presetID="1" grpId="1" fill="hold">
                                  <p:stCondLst>
                                    <p:cond delay="0"/>
                                  </p:stCondLst>
                                  <p:iterate type="el" backwards="0">
                                    <p:tmAbs val="0"/>
                                  </p:iterate>
                                  <p:childTnLst>
                                    <p:set>
                                      <p:cBhvr>
                                        <p:cTn id="32" fill="hold"/>
                                        <p:tgtEl>
                                          <p:spTgt spid="425">
                                            <p:txEl>
                                              <p:pRg st="6" end="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5" animBg="1" rev="0" advAuto="0" spid="425" grpId="1"/>
    </p:bldLst>
  </p:timing>
</p:sld>
</file>

<file path=ppt/slides/slide2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0" name="Online Systems Communities"/>
          <p:cNvSpPr txBox="1"/>
          <p:nvPr>
            <p:ph type="title"/>
          </p:nvPr>
        </p:nvSpPr>
        <p:spPr>
          <a:prstGeom prst="rect">
            <a:avLst/>
          </a:prstGeom>
        </p:spPr>
        <p:txBody>
          <a:bodyPr/>
          <a:lstStyle/>
          <a:p>
            <a:pPr/>
            <a:r>
              <a:t>Online Systems Communities</a:t>
            </a:r>
          </a:p>
        </p:txBody>
      </p:sp>
      <p:sp>
        <p:nvSpPr>
          <p:cNvPr id="431" name="How to Get Involved"/>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p>
            <a:pPr/>
            <a:r>
              <a:t>How to Get Involved</a:t>
            </a:r>
          </a:p>
        </p:txBody>
      </p:sp>
      <p:sp>
        <p:nvSpPr>
          <p:cNvPr id="432" name="Discord:…"/>
          <p:cNvSpPr txBox="1"/>
          <p:nvPr>
            <p:ph type="body" idx="1"/>
          </p:nvPr>
        </p:nvSpPr>
        <p:spPr>
          <a:prstGeom prst="rect">
            <a:avLst/>
          </a:prstGeom>
        </p:spPr>
        <p:txBody>
          <a:bodyPr/>
          <a:lstStyle/>
          <a:p>
            <a:pPr/>
            <a:r>
              <a:t>Discord:</a:t>
            </a:r>
          </a:p>
          <a:p>
            <a:pPr lvl="1"/>
            <a:r>
              <a:t>Software Internals: </a:t>
            </a:r>
            <a:r>
              <a:rPr u="sng">
                <a:hlinkClick r:id="rId3" invalidUrl="" action="" tgtFrame="" tooltip="" history="1" highlightClick="0" endSnd="0"/>
              </a:rPr>
              <a:t>https://discord.gg/243d8pfGB9</a:t>
            </a:r>
          </a:p>
          <a:p>
            <a:pPr lvl="1"/>
            <a:r>
              <a:t>DataFusion / Arrow Rust: </a:t>
            </a:r>
            <a:r>
              <a:rPr u="sng">
                <a:hlinkClick r:id="rId4" invalidUrl="" action="" tgtFrame="" tooltip="" history="1" highlightClick="0" endSnd="0"/>
              </a:rPr>
              <a:t>https://discord.gg/geUyQt6DXJ</a:t>
            </a:r>
          </a:p>
          <a:p>
            <a:pPr lvl="1"/>
            <a:r>
              <a:t>DC Systems: </a:t>
            </a:r>
            <a:r>
              <a:rPr u="sng">
                <a:hlinkClick r:id="rId5" invalidUrl="" action="" tgtFrame="" tooltip="" history="1" highlightClick="0" endSnd="0"/>
              </a:rPr>
              <a:t>https://discord.gg/W6gvyDy8wP</a:t>
            </a:r>
          </a:p>
          <a:p>
            <a:pPr/>
            <a:r>
              <a:t>Please share more!</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32">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432">
                                            <p:txEl>
                                              <p:pRg st="0" end="0"/>
                                            </p:txEl>
                                          </p:spTgt>
                                        </p:tgtEl>
                                        <p:attrNameLst>
                                          <p:attrName>style.visibility</p:attrName>
                                        </p:attrNameLst>
                                      </p:cBhvr>
                                      <p:to>
                                        <p:strVal val="visible"/>
                                      </p:to>
                                    </p:set>
                                  </p:childTnLst>
                                </p:cTn>
                              </p:par>
                              <p:par>
                                <p:cTn id="9" presetClass="entr" nodeType="withEffect" presetSubtype="0" presetID="1" grpId="1" fill="hold">
                                  <p:stCondLst>
                                    <p:cond delay="0"/>
                                  </p:stCondLst>
                                  <p:iterate type="el" backwards="0">
                                    <p:tmAbs val="0"/>
                                  </p:iterate>
                                  <p:childTnLst>
                                    <p:set>
                                      <p:cBhvr>
                                        <p:cTn id="10" fill="hold"/>
                                        <p:tgtEl>
                                          <p:spTgt spid="432">
                                            <p:txEl>
                                              <p:pRg st="1" end="1"/>
                                            </p:txEl>
                                          </p:spTgt>
                                        </p:tgtEl>
                                        <p:attrNameLst>
                                          <p:attrName>style.visibility</p:attrName>
                                        </p:attrNameLst>
                                      </p:cBhvr>
                                      <p:to>
                                        <p:strVal val="visible"/>
                                      </p:to>
                                    </p:set>
                                  </p:childTnLst>
                                </p:cTn>
                              </p:par>
                              <p:par>
                                <p:cTn id="11" presetClass="entr" nodeType="withEffect" presetSubtype="0" presetID="1" grpId="1" fill="hold">
                                  <p:stCondLst>
                                    <p:cond delay="0"/>
                                  </p:stCondLst>
                                  <p:iterate type="el" backwards="0">
                                    <p:tmAbs val="0"/>
                                  </p:iterate>
                                  <p:childTnLst>
                                    <p:set>
                                      <p:cBhvr>
                                        <p:cTn id="12" fill="hold"/>
                                        <p:tgtEl>
                                          <p:spTgt spid="432">
                                            <p:txEl>
                                              <p:pRg st="2" end="2"/>
                                            </p:txEl>
                                          </p:spTgt>
                                        </p:tgtEl>
                                        <p:attrNameLst>
                                          <p:attrName>style.visibility</p:attrName>
                                        </p:attrNameLst>
                                      </p:cBhvr>
                                      <p:to>
                                        <p:strVal val="visible"/>
                                      </p:to>
                                    </p:set>
                                  </p:childTnLst>
                                </p:cTn>
                              </p:par>
                              <p:par>
                                <p:cTn id="13" presetClass="entr" nodeType="withEffect" presetSubtype="0" presetID="1" grpId="1" fill="hold">
                                  <p:stCondLst>
                                    <p:cond delay="0"/>
                                  </p:stCondLst>
                                  <p:iterate type="el" backwards="0">
                                    <p:tmAbs val="0"/>
                                  </p:iterate>
                                  <p:childTnLst>
                                    <p:set>
                                      <p:cBhvr>
                                        <p:cTn id="14" fill="hold"/>
                                        <p:tgtEl>
                                          <p:spTgt spid="43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Class="entr" nodeType="clickEffect" presetSubtype="0" presetID="1" grpId="1" fill="hold">
                                  <p:stCondLst>
                                    <p:cond delay="0"/>
                                  </p:stCondLst>
                                  <p:iterate type="el" backwards="0">
                                    <p:tmAbs val="0"/>
                                  </p:iterate>
                                  <p:childTnLst>
                                    <p:set>
                                      <p:cBhvr>
                                        <p:cTn id="18" fill="hold"/>
                                        <p:tgtEl>
                                          <p:spTgt spid="432">
                                            <p:txEl>
                                              <p:pRg st="4" end="4"/>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432" grpId="1"/>
    </p:bldLst>
  </p:timing>
</p:sld>
</file>

<file path=ppt/slides/slide2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436" name="Takeaways"/>
          <p:cNvSpPr txBox="1"/>
          <p:nvPr>
            <p:ph type="title"/>
          </p:nvPr>
        </p:nvSpPr>
        <p:spPr>
          <a:prstGeom prst="rect">
            <a:avLst/>
          </a:prstGeom>
        </p:spPr>
        <p:txBody>
          <a:bodyPr/>
          <a:lstStyle/>
          <a:p>
            <a:pPr/>
            <a:r>
              <a:t>Takeaways</a:t>
            </a:r>
          </a:p>
        </p:txBody>
      </p:sp>
      <p:sp>
        <p:nvSpPr>
          <p:cNvPr id="437" name="Putting Theory Into Practice"/>
          <p:cNvSpPr txBox="1"/>
          <p:nvPr>
            <p:ph type="body" idx="21"/>
          </p:nvPr>
        </p:nvSpPr>
        <p:spPr>
          <a:prstGeom prst="rect">
            <a:avLst/>
          </a:prstGeom>
          <a:extLst>
            <a:ext uri="{C572A759-6A51-4108-AA02-DFA0A04FC94B}">
              <ma14:wrappingTextBoxFlag xmlns:ma14="http://schemas.microsoft.com/office/mac/drawingml/2011/main" val="1"/>
            </a:ext>
          </a:extLst>
        </p:spPr>
        <p:txBody>
          <a:bodyPr/>
          <a:lstStyle>
            <a:lvl1pPr defTabSz="1194786">
              <a:lnSpc>
                <a:spcPct val="80000"/>
              </a:lnSpc>
              <a:defRPr spc="-113" sz="5684"/>
            </a:lvl1pPr>
          </a:lstStyle>
          <a:p>
            <a:pPr/>
            <a:r>
              <a:t>Putting Theory Into Practice</a:t>
            </a:r>
          </a:p>
        </p:txBody>
      </p:sp>
      <p:sp>
        <p:nvSpPr>
          <p:cNvPr id="438" name="Database management systems (DBMSs), their academic communities, and their open-source communities are awesome!…"/>
          <p:cNvSpPr txBox="1"/>
          <p:nvPr>
            <p:ph type="body" idx="1"/>
          </p:nvPr>
        </p:nvSpPr>
        <p:spPr>
          <a:prstGeom prst="rect">
            <a:avLst/>
          </a:prstGeom>
        </p:spPr>
        <p:txBody>
          <a:bodyPr/>
          <a:lstStyle/>
          <a:p>
            <a:pPr/>
            <a:r>
              <a:t>Database management systems (DBMSs), their academic communities, and their open-source communities are awesome!</a:t>
            </a:r>
          </a:p>
          <a:p>
            <a:pPr/>
            <a:r>
              <a:t>Apache DataFusion is a high-performance, embeddable analytics engine</a:t>
            </a:r>
          </a:p>
          <a:p>
            <a:pPr/>
            <a:r>
              <a:t>Apache DataFusion Comet uses DataFusion to accelerate Apache Spark</a:t>
            </a:r>
          </a:p>
          <a:p>
            <a:pPr/>
            <a:r>
              <a:t>Reach out if you want to chat: </a:t>
            </a:r>
            <a:r>
              <a:rPr u="sng">
                <a:hlinkClick r:id="rId3" invalidUrl="" action="" tgtFrame="" tooltip="" history="1" highlightClick="0" endSnd="0"/>
              </a:rPr>
              <a:t>https://mattbutrovi.ch</a:t>
            </a:r>
          </a:p>
        </p:txBody>
      </p:sp>
      <p:sp>
        <p:nvSpPr>
          <p:cNvPr id="439" name="Thank you to Andy Grove and Andrew Lamb for their support in creating this talk."/>
          <p:cNvSpPr txBox="1"/>
          <p:nvPr/>
        </p:nvSpPr>
        <p:spPr>
          <a:xfrm>
            <a:off x="1091336" y="10313122"/>
            <a:ext cx="22201328" cy="808432"/>
          </a:xfrm>
          <a:prstGeom prst="rect">
            <a:avLst/>
          </a:prstGeom>
          <a:ln w="12700">
            <a:miter lim="400000"/>
          </a:ln>
          <a:extLst>
            <a:ext uri="{C572A759-6A51-4108-AA02-DFA0A04FC94B}">
              <ma14:wrappingTextBoxFlag xmlns:ma14="http://schemas.microsoft.com/office/mac/drawingml/2011/main" val="1"/>
            </a:ext>
          </a:extLst>
        </p:spPr>
        <p:txBody>
          <a:bodyPr wrap="none" lIns="50800" tIns="50800" rIns="50800" bIns="50800" anchor="ctr">
            <a:spAutoFit/>
          </a:bodyPr>
          <a:lstStyle>
            <a:lvl1pPr algn="ctr">
              <a:defRPr>
                <a:solidFill>
                  <a:srgbClr val="A9A9A9"/>
                </a:solidFill>
              </a:defRPr>
            </a:lvl1pPr>
          </a:lstStyle>
          <a:p>
            <a:pPr/>
            <a:r>
              <a:t>Thank you to Andy Grove and Andrew Lamb for their support in creating this talk.</a:t>
            </a:r>
          </a:p>
        </p:txBody>
      </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stCondLst>
                      <p:childTnLst>
                        <p:par>
                          <p:cTn id="4" fill="hold">
                            <p:stCondLst>
                              <p:cond delay="0"/>
                            </p:stCondLst>
                            <p:childTnLst>
                              <p:par>
                                <p:cTn id="5" presetClass="entr" nodeType="clickEffect" presetSubtype="0" presetID="1" grpId="1" fill="hold">
                                  <p:stCondLst>
                                    <p:cond delay="0"/>
                                  </p:stCondLst>
                                  <p:iterate type="el" backwards="0">
                                    <p:tmAbs val="0"/>
                                  </p:iterate>
                                  <p:childTnLst>
                                    <p:set>
                                      <p:cBhvr>
                                        <p:cTn id="6" fill="hold"/>
                                        <p:tgtEl>
                                          <p:spTgt spid="438">
                                            <p:bg/>
                                          </p:spTgt>
                                        </p:tgtEl>
                                        <p:attrNameLst>
                                          <p:attrName>style.visibility</p:attrName>
                                        </p:attrNameLst>
                                      </p:cBhvr>
                                      <p:to>
                                        <p:strVal val="visible"/>
                                      </p:to>
                                    </p:set>
                                  </p:childTnLst>
                                </p:cTn>
                              </p:par>
                              <p:par>
                                <p:cTn id="7" presetClass="entr" nodeType="withEffect" presetSubtype="0" presetID="1" grpId="1" fill="hold">
                                  <p:stCondLst>
                                    <p:cond delay="0"/>
                                  </p:stCondLst>
                                  <p:iterate type="el" backwards="0">
                                    <p:tmAbs val="0"/>
                                  </p:iterate>
                                  <p:childTnLst>
                                    <p:set>
                                      <p:cBhvr>
                                        <p:cTn id="8" fill="hold"/>
                                        <p:tgtEl>
                                          <p:spTgt spid="438">
                                            <p:txEl>
                                              <p:pRg st="0" end="0"/>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Class="entr" nodeType="clickEffect" presetSubtype="0" presetID="1" grpId="1" fill="hold">
                                  <p:stCondLst>
                                    <p:cond delay="0"/>
                                  </p:stCondLst>
                                  <p:iterate type="el" backwards="0">
                                    <p:tmAbs val="0"/>
                                  </p:iterate>
                                  <p:childTnLst>
                                    <p:set>
                                      <p:cBhvr>
                                        <p:cTn id="12" fill="hold"/>
                                        <p:tgtEl>
                                          <p:spTgt spid="438">
                                            <p:txEl>
                                              <p:pRg st="1" end="1"/>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0" presetID="1" grpId="1" fill="hold">
                                  <p:stCondLst>
                                    <p:cond delay="0"/>
                                  </p:stCondLst>
                                  <p:iterate type="el" backwards="0">
                                    <p:tmAbs val="0"/>
                                  </p:iterate>
                                  <p:childTnLst>
                                    <p:set>
                                      <p:cBhvr>
                                        <p:cTn id="16" fill="hold"/>
                                        <p:tgtEl>
                                          <p:spTgt spid="438">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0" presetID="1" grpId="1" fill="hold">
                                  <p:stCondLst>
                                    <p:cond delay="0"/>
                                  </p:stCondLst>
                                  <p:iterate type="el" backwards="0">
                                    <p:tmAbs val="0"/>
                                  </p:iterate>
                                  <p:childTnLst>
                                    <p:set>
                                      <p:cBhvr>
                                        <p:cTn id="20" fill="hold"/>
                                        <p:tgtEl>
                                          <p:spTgt spid="438">
                                            <p:txEl>
                                              <p:pRg st="3" end="3"/>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bldLst>
      <p:bldP build="p" bldLvl="1" animBg="1" rev="0" advAuto="0" spid="438" grpId="1"/>
    </p:bldLst>
  </p:timing>
</p:sld>
</file>

<file path=ppt/theme/theme1.xml><?xml version="1.0" encoding="utf-8"?>
<a:theme xmlns:a="http://schemas.openxmlformats.org/drawingml/2006/main" xmlns:r="http://schemas.openxmlformats.org/officeDocument/2006/relationships"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0_BasicBlack">
      <a:majorFont>
        <a:latin typeface="Helvetica Neue"/>
        <a:ea typeface="Helvetica Neue"/>
        <a:cs typeface="Helvetica Neue"/>
      </a:majorFont>
      <a:minorFont>
        <a:latin typeface="Helvetica Neue"/>
        <a:ea typeface="Helvetica Neue"/>
        <a:cs typeface="Helvetica Neue"/>
      </a:minorFont>
    </a:fontScheme>
    <a:fmtScheme name="20_Basic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20_BasicBlack">
  <a:themeElements>
    <a:clrScheme name="20_BasicBlack">
      <a:dk1>
        <a:srgbClr val="000000"/>
      </a:dk1>
      <a:lt1>
        <a:srgbClr val="FFFFFF"/>
      </a:lt1>
      <a:dk2>
        <a:srgbClr val="434343"/>
      </a:dk2>
      <a:lt2>
        <a:srgbClr val="A9A9A9"/>
      </a:lt2>
      <a:accent1>
        <a:srgbClr val="0076BA"/>
      </a:accent1>
      <a:accent2>
        <a:srgbClr val="05A89D"/>
      </a:accent2>
      <a:accent3>
        <a:srgbClr val="1DB100"/>
      </a:accent3>
      <a:accent4>
        <a:srgbClr val="F9B900"/>
      </a:accent4>
      <a:accent5>
        <a:srgbClr val="EE220D"/>
      </a:accent5>
      <a:accent6>
        <a:srgbClr val="CB297B"/>
      </a:accent6>
      <a:hlink>
        <a:srgbClr val="0000FF"/>
      </a:hlink>
      <a:folHlink>
        <a:srgbClr val="FF00FF"/>
      </a:folHlink>
    </a:clrScheme>
    <a:fontScheme name="20_BasicBlack">
      <a:majorFont>
        <a:latin typeface="Helvetica Neue"/>
        <a:ea typeface="Helvetica Neue"/>
        <a:cs typeface="Helvetica Neue"/>
      </a:majorFont>
      <a:minorFont>
        <a:latin typeface="Helvetica Neue"/>
        <a:ea typeface="Helvetica Neue"/>
        <a:cs typeface="Helvetica Neue"/>
      </a:minorFont>
    </a:fontScheme>
    <a:fmtScheme name="20_BasicBlack">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ctr" defTabSz="825500" rtl="0" fontAlgn="auto" latinLnBrk="0" hangingPunct="0">
          <a:lnSpc>
            <a:spcPct val="100000"/>
          </a:lnSpc>
          <a:spcBef>
            <a:spcPts val="0"/>
          </a:spcBef>
          <a:spcAft>
            <a:spcPts val="0"/>
          </a:spcAft>
          <a:buClrTx/>
          <a:buSzTx/>
          <a:buFontTx/>
          <a:buNone/>
          <a:tabLst/>
          <a:defRPr b="0" baseline="0" cap="none" i="0" spc="0" strike="noStrike" sz="3200" u="none" kumimoji="0" normalizeH="0">
            <a:ln>
              <a:noFill/>
            </a:ln>
            <a:solidFill>
              <a:srgbClr val="000000"/>
            </a:solidFill>
            <a:effectLst/>
            <a:uFillTx/>
            <a:latin typeface="Helvetica Neue Medium"/>
            <a:ea typeface="Helvetica Neue Medium"/>
            <a:cs typeface="Helvetica Neue Medium"/>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25400" cap="flat">
          <a:solidFill>
            <a:srgbClr val="FFFFFF"/>
          </a:solidFill>
          <a:prstDash val="solid"/>
          <a:miter lim="4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upright="0">
        <a:spAutoFit/>
      </a:bodyPr>
      <a:lstStyle>
        <a:defPPr marL="0" marR="0" indent="0" algn="l" defTabSz="2438338" rtl="0" fontAlgn="auto" latinLnBrk="0" hangingPunct="0">
          <a:lnSpc>
            <a:spcPct val="90000"/>
          </a:lnSpc>
          <a:spcBef>
            <a:spcPts val="4500"/>
          </a:spcBef>
          <a:spcAft>
            <a:spcPts val="0"/>
          </a:spcAft>
          <a:buClrTx/>
          <a:buSzTx/>
          <a:buFontTx/>
          <a:buNone/>
          <a:tabLst/>
          <a:defRPr b="0" baseline="0" cap="none" i="0" spc="0" strike="noStrike" sz="4800" u="none" kumimoji="0" normalizeH="0">
            <a:ln>
              <a:noFill/>
            </a:ln>
            <a:solidFill>
              <a:srgbClr val="FFFFFF"/>
            </a:solidFill>
            <a:effectLst/>
            <a:uFillTx/>
            <a:latin typeface="+mn-lt"/>
            <a:ea typeface="+mn-ea"/>
            <a:cs typeface="+mn-cs"/>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